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9144000" cy="5143500"/>
  <p:notesSz cx="51435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
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HumanEval pass@1 (%)</c:v>
                </c:pt>
              </c:strCache>
            </c:strRef>
          </c:tx>
          <c:spPr>
            <a:solidFill>
              <a:srgbClr val="6b7280"/>
            </a:solidFill>
            <a:ln>
              <a:noFill/>
            </a:ln>
          </c:spPr>
          <c:invertIfNegative val="0"/>
          <c:dPt>
            <c:idx val="0"/>
            <c:invertIfNegative val="0"/>
            <c:spPr>
              <a:solidFill>
                <a:srgbClr val="6b7280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0891b2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0d9488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0d9488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2e5090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1f3864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d97706"/>
              </a:solidFill>
              <a:ln>
                <a:noFill/>
              </a:ln>
            </c:spPr>
          </c:dPt>
          <c:dLbls>
            <c:numFmt formatCode="#,##0" sourceLinked="0"/>
            <c:dLbl>
              <c:idx val="0"/>
              <c:txPr>
                <a:bodyPr/>
                <a:lstStyle/>
                <a:p>
                  <a:pPr>
                    <a:defRPr b="0" sz="1000" spc="-1" strike="noStrike">
                      <a:solidFill>
                        <a:srgbClr val="1e293b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/>
                <a:lstStyle/>
                <a:p>
                  <a:pPr>
                    <a:defRPr b="0" sz="1000" spc="-1" strike="noStrike">
                      <a:solidFill>
                        <a:srgbClr val="1e293b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/>
                <a:lstStyle/>
                <a:p>
                  <a:pPr>
                    <a:defRPr b="0" sz="1000" spc="-1" strike="noStrike">
                      <a:solidFill>
                        <a:srgbClr val="1e293b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/>
                <a:lstStyle/>
                <a:p>
                  <a:pPr>
                    <a:defRPr b="0" sz="1000" spc="-1" strike="noStrike">
                      <a:solidFill>
                        <a:srgbClr val="1e293b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/>
                <a:lstStyle/>
                <a:p>
                  <a:pPr>
                    <a:defRPr b="0" sz="1000" spc="-1" strike="noStrike">
                      <a:solidFill>
                        <a:srgbClr val="1e293b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txPr>
                <a:bodyPr/>
                <a:lstStyle/>
                <a:p>
                  <a:pPr>
                    <a:defRPr b="0" sz="1000" spc="-1" strike="noStrike">
                      <a:solidFill>
                        <a:srgbClr val="1e293b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6"/>
              <c:txPr>
                <a:bodyPr/>
                <a:lstStyle/>
                <a:p>
                  <a:pPr>
                    <a:defRPr b="0" sz="1000" spc="-1" strike="noStrike">
                      <a:solidFill>
                        <a:srgbClr val="1e293b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/>
              <a:lstStyle/>
              <a:p>
                <a:pPr>
                  <a:defRPr b="0" sz="1000" spc="-1" strike="noStrike">
                    <a:solidFill>
                      <a:srgbClr val="1e293b"/>
                    </a:solidFill>
                    <a:latin typeface="Arial"/>
                    <a:ea typeface="DejaVu San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</c:dLbls>
          <c:cat>
            <c:strRef>
              <c:f>categories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30.5</c:v>
                </c:pt>
                <c:pt idx="1">
                  <c:v>33.5</c:v>
                </c:pt>
                <c:pt idx="2">
                  <c:v>53</c:v>
                </c:pt>
                <c:pt idx="3">
                  <c:v>67.8</c:v>
                </c:pt>
                <c:pt idx="4">
                  <c:v>49.4</c:v>
                </c:pt>
                <c:pt idx="5">
                  <c:v>89</c:v>
                </c:pt>
                <c:pt idx="6">
                  <c:v>92.7</c:v>
                </c:pt>
              </c:numCache>
            </c:numRef>
          </c:val>
        </c:ser>
        <c:gapWidth val="40"/>
        <c:overlap val="0"/>
        <c:axId val="51508146"/>
        <c:axId val="5541153"/>
      </c:barChart>
      <c:catAx>
        <c:axId val="51508146"/>
        <c:scaling>
          <c:orientation val="minMax"/>
        </c:scaling>
        <c:delete val="0"/>
        <c:axPos val="b"/>
        <c:numFmt formatCode="[$-41F]DD/MM/YYYY" sourceLinked="1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b7280"/>
                </a:solidFill>
                <a:latin typeface="Arial"/>
                <a:ea typeface="DejaVu Sans"/>
              </a:defRPr>
            </a:pPr>
          </a:p>
        </c:txPr>
        <c:crossAx val="5541153"/>
        <c:crosses val="autoZero"/>
        <c:auto val="1"/>
        <c:lblAlgn val="ctr"/>
        <c:lblOffset val="100"/>
      </c:catAx>
      <c:valAx>
        <c:axId val="5541153"/>
        <c:scaling>
          <c:orientation val="minMax"/>
        </c:scaling>
        <c:delete val="0"/>
        <c:axPos val="l"/>
        <c:majorGridlines>
          <c:spPr>
            <a:ln w="6480">
              <a:solidFill>
                <a:srgbClr val="e5e7eb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b7280"/>
                </a:solidFill>
                <a:latin typeface="Arial"/>
                <a:ea typeface="DejaVu Sans"/>
              </a:defRPr>
            </a:pPr>
          </a:p>
        </c:txPr>
        <c:crossAx val="51508146"/>
        <c:crosses val="autoZero"/>
      </c:valAx>
      <c:spPr>
        <a:noFill/>
        <a:ln>
          <a:noFill/>
        </a:ln>
      </c:spPr>
    </c:plotArea>
    <c:plotVisOnly val="1"/>
    <c:dispBlanksAs val="span"/>
  </c:chart>
  <c:spPr>
    <a:solidFill>
      <a:srgbClr val="ffffff"/>
    </a:solidFill>
    <a:ln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SWE-bench %</c:v>
                </c:pt>
              </c:strCache>
            </c:strRef>
          </c:tx>
          <c:spPr>
            <a:solidFill>
              <a:srgbClr val="6b7280"/>
            </a:solidFill>
            <a:ln>
              <a:noFill/>
            </a:ln>
          </c:spPr>
          <c:invertIfNegative val="0"/>
          <c:dPt>
            <c:idx val="0"/>
            <c:invertIfNegative val="0"/>
            <c:spPr>
              <a:solidFill>
                <a:srgbClr val="6b7280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2e5090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0891b2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1f3864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0d9488"/>
              </a:solidFill>
              <a:ln>
                <a:noFill/>
              </a:ln>
            </c:spPr>
          </c:dPt>
          <c:dLbls>
            <c:numFmt formatCode="#,##0" sourceLinked="0"/>
            <c:dLbl>
              <c:idx val="0"/>
              <c:txPr>
                <a:bodyPr/>
                <a:lstStyle/>
                <a:p>
                  <a:pPr>
                    <a:defRPr b="0" sz="900" spc="-1" strike="noStrike">
                      <a:solidFill>
                        <a:srgbClr val="1e293b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/>
                <a:lstStyle/>
                <a:p>
                  <a:pPr>
                    <a:defRPr b="0" sz="900" spc="-1" strike="noStrike">
                      <a:solidFill>
                        <a:srgbClr val="1e293b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/>
                <a:lstStyle/>
                <a:p>
                  <a:pPr>
                    <a:defRPr b="0" sz="900" spc="-1" strike="noStrike">
                      <a:solidFill>
                        <a:srgbClr val="1e293b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/>
                <a:lstStyle/>
                <a:p>
                  <a:pPr>
                    <a:defRPr b="0" sz="900" spc="-1" strike="noStrike">
                      <a:solidFill>
                        <a:srgbClr val="1e293b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/>
                <a:lstStyle/>
                <a:p>
                  <a:pPr>
                    <a:defRPr b="0" sz="900" spc="-1" strike="noStrike">
                      <a:solidFill>
                        <a:srgbClr val="1e293b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/>
              <a:lstStyle/>
              <a:p>
                <a:pPr>
                  <a:defRPr b="0" sz="900" spc="-1" strike="noStrike">
                    <a:solidFill>
                      <a:srgbClr val="1e293b"/>
                    </a:solidFill>
                    <a:latin typeface="Arial"/>
                    <a:ea typeface="DejaVu San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</c:dLbls>
          <c:cat>
            <c:strRef>
              <c:f>categories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1.96</c:v>
                </c:pt>
                <c:pt idx="1">
                  <c:v>12.5</c:v>
                </c:pt>
                <c:pt idx="2">
                  <c:v>33.3</c:v>
                </c:pt>
                <c:pt idx="3">
                  <c:v>49</c:v>
                </c:pt>
                <c:pt idx="4">
                  <c:v>80.9</c:v>
                </c:pt>
              </c:numCache>
            </c:numRef>
          </c:val>
        </c:ser>
        <c:gapWidth val="35"/>
        <c:overlap val="0"/>
        <c:axId val="29647259"/>
        <c:axId val="58849164"/>
      </c:barChart>
      <c:catAx>
        <c:axId val="29647259"/>
        <c:scaling>
          <c:orientation val="minMax"/>
        </c:scaling>
        <c:delete val="0"/>
        <c:axPos val="b"/>
        <c:numFmt formatCode="[$-41F]DD/MM/YYYY" sourceLinked="1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b7280"/>
                </a:solidFill>
                <a:latin typeface="Arial"/>
                <a:ea typeface="DejaVu Sans"/>
              </a:defRPr>
            </a:pPr>
          </a:p>
        </c:txPr>
        <c:crossAx val="58849164"/>
        <c:crosses val="autoZero"/>
        <c:auto val="1"/>
        <c:lblAlgn val="ctr"/>
        <c:lblOffset val="100"/>
      </c:catAx>
      <c:valAx>
        <c:axId val="58849164"/>
        <c:scaling>
          <c:orientation val="minMax"/>
        </c:scaling>
        <c:delete val="0"/>
        <c:axPos val="l"/>
        <c:majorGridlines>
          <c:spPr>
            <a:ln w="6480">
              <a:solidFill>
                <a:srgbClr val="e5e7eb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b7280"/>
                </a:solidFill>
                <a:latin typeface="Arial"/>
                <a:ea typeface="DejaVu Sans"/>
              </a:defRPr>
            </a:pPr>
          </a:p>
        </c:txPr>
        <c:crossAx val="29647259"/>
        <c:crosses val="autoZero"/>
      </c:valAx>
      <c:spPr>
        <a:noFill/>
        <a:ln>
          <a:noFill/>
        </a:ln>
      </c:spPr>
    </c:plotArea>
    <c:plotVisOnly val="1"/>
    <c:dispBlanksAs val="span"/>
  </c:chart>
  <c:spPr>
    <a:solidFill>
      <a:srgbClr val="ffffff"/>
    </a:solidFill>
    <a:ln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tr-TR" sz="4400" spc="-1" strike="noStrike">
                <a:latin typeface="Arial"/>
              </a:rPr>
              <a:t>Click to move the slide</a:t>
            </a:r>
            <a:endParaRPr b="0" lang="tr-TR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tr-TR" sz="2000" spc="-1" strike="noStrike">
                <a:latin typeface="Arial"/>
              </a:rPr>
              <a:t>Click to edit the notes format</a:t>
            </a:r>
            <a:endParaRPr b="0" lang="tr-TR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tr-TR" sz="1400" spc="-1" strike="noStrike">
                <a:latin typeface="Times New Roman"/>
              </a:rPr>
              <a:t> </a:t>
            </a:r>
            <a:endParaRPr b="0" lang="tr-TR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tr-TR" sz="1400" spc="-1" strike="noStrike">
                <a:latin typeface="Times New Roman"/>
              </a:rPr>
              <a:t> </a:t>
            </a:r>
            <a:endParaRPr b="0" lang="tr-TR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tr-TR" sz="1400" spc="-1" strike="noStrike">
                <a:latin typeface="Times New Roman"/>
              </a:rPr>
              <a:t> </a:t>
            </a:r>
            <a:endParaRPr b="0" lang="tr-TR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27A710D1-6463-41D0-A3D6-69904CC1C2A5}" type="slidenum">
              <a:rPr b="0" lang="tr-TR" sz="1400" spc="-1" strike="noStrike">
                <a:latin typeface="Times New Roman"/>
              </a:rPr>
              <a:t>1</a:t>
            </a:fld>
            <a:endParaRPr b="0" lang="tr-T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397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D5526D50-4A37-4482-B345-AE3DD98D67CE}" type="slidenum">
              <a:rPr b="0" lang="tr-TR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tr-TR" sz="1200" spc="-1" strike="noStrike"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400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6762CBA5-33CC-48C6-B1D7-B1989E89BF33}" type="slidenum">
              <a:rPr b="0" lang="tr-TR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tr-TR" sz="1200" spc="-1" strike="noStrike"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403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C99B15F4-5639-4780-99A9-0A2FB222E689}" type="slidenum">
              <a:rPr b="0" lang="tr-TR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tr-TR" sz="12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406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38E05BC0-377C-4B95-8AA3-3C868B5DCBB1}" type="slidenum">
              <a:rPr b="0" lang="tr-TR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tr-TR" sz="12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409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7050674B-5D33-4641-910F-C538C1208BD6}" type="slidenum">
              <a:rPr b="0" lang="tr-TR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tr-TR" sz="1200" spc="-1" strike="noStrike"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412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09B5D453-2DE4-47A8-8239-AF878C435D37}" type="slidenum">
              <a:rPr b="0" lang="tr-TR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tr-TR" sz="1200" spc="-1" strike="noStrike"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415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FEE8B091-DDB3-461D-AB7B-EBF50DAE42E1}" type="slidenum">
              <a:rPr b="0" lang="tr-TR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tr-TR" sz="1200" spc="-1" strike="noStrike"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418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1A9F9BB1-2474-40E5-B4A1-85D055CCAC94}" type="slidenum">
              <a:rPr b="0" lang="tr-TR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tr-TR" sz="1200" spc="-1" strike="noStrike"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421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625A08C2-E784-4B7B-BEB3-0252468A233C}" type="slidenum">
              <a:rPr b="0" lang="tr-TR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tr-TR" sz="1200" spc="-1" strike="noStrike"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424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9767496A-EC84-41C6-B97A-647E10869251}" type="slidenum">
              <a:rPr b="0" lang="tr-TR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tr-TR" sz="1200" spc="-1" strike="noStrike"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427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56E48D28-DE15-4DE9-AD63-117E10682DBF}" type="slidenum">
              <a:rPr b="0" lang="tr-TR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tr-TR" sz="1200" spc="-1" strike="noStrike"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430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59E13197-BE8F-40ED-A22F-E8EB5DFABF53}" type="slidenum">
              <a:rPr b="0" lang="tr-TR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tr-TR" sz="1200" spc="-1" strike="noStrike"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433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1A1BA880-A6F9-45C3-B330-F50F7F4A6A06}" type="slidenum">
              <a:rPr b="0" lang="tr-TR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tr-TR" sz="1200" spc="-1" strike="noStrike"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436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4420385B-6956-4475-9CD9-B651AC420FB7}" type="slidenum">
              <a:rPr b="0" lang="tr-TR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tr-TR" sz="1200" spc="-1" strike="noStrike"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439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5F3669C5-136B-41A0-863F-0B34268E45A0}" type="slidenum">
              <a:rPr b="0" lang="tr-TR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tr-TR" sz="1200" spc="-1" strike="noStrike"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442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69C11765-3C6B-4B9B-BD59-45AAD8DE7D0E}" type="slidenum">
              <a:rPr b="0" lang="tr-TR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tr-TR" sz="1200" spc="-1" strike="noStrike"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445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856E26E1-16B5-4538-A356-5FC865A65A27}" type="slidenum">
              <a:rPr b="0" lang="tr-TR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tr-TR" sz="1200" spc="-1" strike="noStrike"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448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ACDB9D52-70C4-454B-A79C-415444E5E3EE}" type="slidenum">
              <a:rPr b="0" lang="tr-TR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tr-TR" sz="1200" spc="-1" strike="noStrike"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451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587E1F15-5FF0-4974-A4C5-12D97F249FCE}" type="slidenum">
              <a:rPr b="0" lang="tr-TR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tr-TR" sz="1200" spc="-1" strike="noStrike"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454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794876C0-9EC9-4E65-9DCE-A6486B6F50C5}" type="slidenum">
              <a:rPr b="0" lang="tr-TR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tr-TR" sz="1200" spc="-1" strike="noStrike"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457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F83A9045-DAA4-47D2-AD45-30D6A72391FD}" type="slidenum">
              <a:rPr b="0" lang="tr-TR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tr-TR" sz="1200" spc="-1" strike="noStrike"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460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D76BD1B5-42C6-449C-A0AE-FC1C561D9903}" type="slidenum">
              <a:rPr b="0" lang="tr-TR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tr-TR" sz="1200" spc="-1" strike="noStrike"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463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B3F4C14C-A8DA-41CD-9E2A-793EEE32E011}" type="slidenum">
              <a:rPr b="0" lang="tr-T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tr-TR" sz="1200" spc="-1" strike="noStrike"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466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C8454215-9841-40F4-8781-E93FEA117936}" type="slidenum">
              <a:rPr b="0" lang="tr-T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tr-TR" sz="12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tr-T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tr-T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tr-TR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tr-TR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tr-TR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tr-T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tr-TR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tr-TR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tr-TR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tr-TR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tr-TR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tr-TR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tr-TR" sz="4400" spc="-1" strike="noStrike">
                <a:latin typeface="Arial"/>
              </a:rPr>
              <a:t>Click to edit the title text format</a:t>
            </a:r>
            <a:endParaRPr b="0" lang="tr-TR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3200" spc="-1" strike="noStrike">
                <a:latin typeface="Arial"/>
              </a:rPr>
              <a:t>Click to edit the outline text format</a:t>
            </a:r>
            <a:endParaRPr b="0" lang="tr-T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800" spc="-1" strike="noStrike">
                <a:latin typeface="Arial"/>
              </a:rPr>
              <a:t>Second Outline Level</a:t>
            </a:r>
            <a:endParaRPr b="0" lang="tr-T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400" spc="-1" strike="noStrike">
                <a:latin typeface="Arial"/>
              </a:rPr>
              <a:t>Third Outline Level</a:t>
            </a:r>
            <a:endParaRPr b="0" lang="tr-T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000" spc="-1" strike="noStrike">
                <a:latin typeface="Arial"/>
              </a:rPr>
              <a:t>Fourth Outline Level</a:t>
            </a:r>
            <a:endParaRPr b="0" lang="tr-T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latin typeface="Arial"/>
              </a:rPr>
              <a:t>Fifth Outline Level</a:t>
            </a:r>
            <a:endParaRPr b="0" lang="tr-T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latin typeface="Arial"/>
              </a:rPr>
              <a:t>Sixth Outline Level</a:t>
            </a:r>
            <a:endParaRPr b="0" lang="tr-T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latin typeface="Arial"/>
              </a:rPr>
              <a:t>Seventh Outline Level</a:t>
            </a:r>
            <a:endParaRPr b="0" lang="tr-T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0" y="0"/>
            <a:ext cx="9143280" cy="72360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CustomShape 2"/>
          <p:cNvSpPr/>
          <p:nvPr/>
        </p:nvSpPr>
        <p:spPr>
          <a:xfrm>
            <a:off x="0" y="5070240"/>
            <a:ext cx="9143280" cy="72360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CustomShape 3"/>
          <p:cNvSpPr/>
          <p:nvPr/>
        </p:nvSpPr>
        <p:spPr>
          <a:xfrm>
            <a:off x="731520" y="731520"/>
            <a:ext cx="7680240" cy="146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3600" spc="-1" strike="noStrike">
                <a:solidFill>
                  <a:srgbClr val="ffffff"/>
                </a:solidFill>
                <a:latin typeface="Calibri"/>
                <a:ea typeface="Calibri"/>
              </a:rPr>
              <a:t>Kod Üretimi ve </a:t>
            </a:r>
            <a:r>
              <a:rPr b="1" lang="tr-TR" sz="3600" spc="-1" strike="noStrike">
                <a:solidFill>
                  <a:srgbClr val="ffffff"/>
                </a:solidFill>
                <a:latin typeface="Calibri"/>
                <a:ea typeface="Calibri"/>
              </a:rPr>
              <a:t>Yapay Zeka Destekli Yazılım Geliştirme</a:t>
            </a:r>
            <a:endParaRPr b="0" lang="tr-TR" sz="3600" spc="-1" strike="noStrike">
              <a:latin typeface="Arial"/>
            </a:endParaRPr>
          </a:p>
        </p:txBody>
      </p:sp>
      <p:sp>
        <p:nvSpPr>
          <p:cNvPr id="47" name="CustomShape 4"/>
          <p:cNvSpPr/>
          <p:nvPr/>
        </p:nvSpPr>
        <p:spPr>
          <a:xfrm>
            <a:off x="914400" y="2286000"/>
            <a:ext cx="7314480" cy="45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tr-TR" sz="1600" spc="-1" strike="noStrike">
                <a:solidFill>
                  <a:srgbClr val="cadcfc"/>
                </a:solidFill>
                <a:latin typeface="Calibri"/>
                <a:ea typeface="Calibri"/>
              </a:rPr>
              <a:t>Fadime ERBAY</a:t>
            </a:r>
            <a:endParaRPr b="0" lang="tr-TR" sz="1600" spc="-1" strike="noStrike">
              <a:latin typeface="Arial"/>
            </a:endParaRPr>
          </a:p>
        </p:txBody>
      </p:sp>
      <p:sp>
        <p:nvSpPr>
          <p:cNvPr id="48" name="CustomShape 5"/>
          <p:cNvSpPr/>
          <p:nvPr/>
        </p:nvSpPr>
        <p:spPr>
          <a:xfrm>
            <a:off x="2743200" y="2834640"/>
            <a:ext cx="3656880" cy="36000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CustomShape 6"/>
          <p:cNvSpPr/>
          <p:nvPr/>
        </p:nvSpPr>
        <p:spPr>
          <a:xfrm>
            <a:off x="457200" y="2971800"/>
            <a:ext cx="8228880" cy="41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stomShape 1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CustomShape 2"/>
          <p:cNvSpPr/>
          <p:nvPr/>
        </p:nvSpPr>
        <p:spPr>
          <a:xfrm>
            <a:off x="457200" y="164520"/>
            <a:ext cx="8228880" cy="59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2400" spc="-1" strike="noStrike">
                <a:solidFill>
                  <a:srgbClr val="1f3864"/>
                </a:solidFill>
                <a:latin typeface="Calibri"/>
                <a:ea typeface="Calibri"/>
              </a:rPr>
              <a:t>Sunum Akışı</a:t>
            </a:r>
            <a:endParaRPr b="0" lang="tr-TR" sz="2400" spc="-1" strike="noStrike">
              <a:latin typeface="Arial"/>
            </a:endParaRPr>
          </a:p>
        </p:txBody>
      </p:sp>
      <p:sp>
        <p:nvSpPr>
          <p:cNvPr id="52" name="CustomShape 3"/>
          <p:cNvSpPr/>
          <p:nvPr/>
        </p:nvSpPr>
        <p:spPr>
          <a:xfrm>
            <a:off x="457200" y="749880"/>
            <a:ext cx="8228880" cy="29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200" spc="-1" strike="noStrike">
                <a:solidFill>
                  <a:srgbClr val="6b7280"/>
                </a:solidFill>
                <a:latin typeface="Calibri"/>
                <a:ea typeface="Calibri"/>
              </a:rPr>
              <a:t>Problem → Yöntem → Deney → Sonuç → Gelecek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53" name="Line 4"/>
          <p:cNvSpPr/>
          <p:nvPr/>
        </p:nvSpPr>
        <p:spPr>
          <a:xfrm>
            <a:off x="457200" y="1023840"/>
            <a:ext cx="8229600" cy="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CustomShape 5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CustomShape 6"/>
          <p:cNvSpPr/>
          <p:nvPr/>
        </p:nvSpPr>
        <p:spPr>
          <a:xfrm>
            <a:off x="365760" y="4937760"/>
            <a:ext cx="7314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900" spc="-1" strike="noStrike">
                <a:solidFill>
                  <a:srgbClr val="cadcfc"/>
                </a:solidFill>
                <a:latin typeface="Calibri"/>
                <a:ea typeface="Calibri"/>
              </a:rPr>
              <a:t>Kod Üretimi için LLM'ler — Code Llama Ekseninde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56" name="CustomShape 7"/>
          <p:cNvSpPr/>
          <p:nvPr/>
        </p:nvSpPr>
        <p:spPr>
          <a:xfrm>
            <a:off x="8503920" y="4937760"/>
            <a:ext cx="456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57" name="CustomShape 8"/>
          <p:cNvSpPr/>
          <p:nvPr/>
        </p:nvSpPr>
        <p:spPr>
          <a:xfrm>
            <a:off x="365760" y="1280160"/>
            <a:ext cx="502200" cy="502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1800" spc="-1" strike="noStrike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b="0" lang="tr-TR" sz="1800" spc="-1" strike="noStrike">
              <a:latin typeface="Arial"/>
            </a:endParaRPr>
          </a:p>
        </p:txBody>
      </p:sp>
      <p:sp>
        <p:nvSpPr>
          <p:cNvPr id="58" name="CustomShape 9"/>
          <p:cNvSpPr/>
          <p:nvPr/>
        </p:nvSpPr>
        <p:spPr>
          <a:xfrm>
            <a:off x="960120" y="1280160"/>
            <a:ext cx="356544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300" spc="-1" strike="noStrike">
                <a:solidFill>
                  <a:srgbClr val="1f3864"/>
                </a:solidFill>
                <a:latin typeface="Calibri"/>
                <a:ea typeface="Calibri"/>
              </a:rPr>
              <a:t>Problem &amp; Motivasyon</a:t>
            </a:r>
            <a:endParaRPr b="0" lang="tr-TR" sz="1300" spc="-1" strike="noStrike">
              <a:latin typeface="Arial"/>
            </a:endParaRPr>
          </a:p>
        </p:txBody>
      </p:sp>
      <p:sp>
        <p:nvSpPr>
          <p:cNvPr id="59" name="CustomShape 10"/>
          <p:cNvSpPr/>
          <p:nvPr/>
        </p:nvSpPr>
        <p:spPr>
          <a:xfrm>
            <a:off x="960120" y="1554480"/>
            <a:ext cx="35654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6b7280"/>
                </a:solidFill>
                <a:latin typeface="Calibri"/>
                <a:ea typeface="Calibri"/>
              </a:rPr>
              <a:t>Yazılım geliştirmede darboğaz, kapalı kaynak hakimiyeti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60" name="Line 11"/>
          <p:cNvSpPr/>
          <p:nvPr/>
        </p:nvSpPr>
        <p:spPr>
          <a:xfrm>
            <a:off x="365760" y="2240280"/>
            <a:ext cx="4160520" cy="0"/>
          </a:xfrm>
          <a:prstGeom prst="line">
            <a:avLst/>
          </a:prstGeom>
          <a:ln w="648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CustomShape 12"/>
          <p:cNvSpPr/>
          <p:nvPr/>
        </p:nvSpPr>
        <p:spPr>
          <a:xfrm>
            <a:off x="365760" y="2450520"/>
            <a:ext cx="502200" cy="502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18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tr-TR" sz="1800" spc="-1" strike="noStrike">
              <a:latin typeface="Arial"/>
            </a:endParaRPr>
          </a:p>
        </p:txBody>
      </p:sp>
      <p:sp>
        <p:nvSpPr>
          <p:cNvPr id="62" name="CustomShape 13"/>
          <p:cNvSpPr/>
          <p:nvPr/>
        </p:nvSpPr>
        <p:spPr>
          <a:xfrm>
            <a:off x="960120" y="2450520"/>
            <a:ext cx="356544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300" spc="-1" strike="noStrike">
                <a:solidFill>
                  <a:srgbClr val="1f3864"/>
                </a:solidFill>
                <a:latin typeface="Calibri"/>
                <a:ea typeface="Calibri"/>
              </a:rPr>
              <a:t>Literatür Boşluğu</a:t>
            </a:r>
            <a:endParaRPr b="0" lang="tr-TR" sz="1300" spc="-1" strike="noStrike">
              <a:latin typeface="Arial"/>
            </a:endParaRPr>
          </a:p>
        </p:txBody>
      </p:sp>
      <p:sp>
        <p:nvSpPr>
          <p:cNvPr id="63" name="CustomShape 14"/>
          <p:cNvSpPr/>
          <p:nvPr/>
        </p:nvSpPr>
        <p:spPr>
          <a:xfrm>
            <a:off x="960120" y="2724840"/>
            <a:ext cx="35654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6b7280"/>
                </a:solidFill>
                <a:latin typeface="Calibri"/>
                <a:ea typeface="Calibri"/>
              </a:rPr>
              <a:t>8 model karşılaştırması, 4 kritik boşluk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64" name="Line 15"/>
          <p:cNvSpPr/>
          <p:nvPr/>
        </p:nvSpPr>
        <p:spPr>
          <a:xfrm>
            <a:off x="365760" y="3410640"/>
            <a:ext cx="4160520" cy="0"/>
          </a:xfrm>
          <a:prstGeom prst="line">
            <a:avLst/>
          </a:prstGeom>
          <a:ln w="648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CustomShape 16"/>
          <p:cNvSpPr/>
          <p:nvPr/>
        </p:nvSpPr>
        <p:spPr>
          <a:xfrm>
            <a:off x="365760" y="3620880"/>
            <a:ext cx="502200" cy="502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1800" spc="-1" strike="noStrike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b="0" lang="tr-TR" sz="1800" spc="-1" strike="noStrike">
              <a:latin typeface="Arial"/>
            </a:endParaRPr>
          </a:p>
        </p:txBody>
      </p:sp>
      <p:sp>
        <p:nvSpPr>
          <p:cNvPr id="66" name="CustomShape 17"/>
          <p:cNvSpPr/>
          <p:nvPr/>
        </p:nvSpPr>
        <p:spPr>
          <a:xfrm>
            <a:off x="960120" y="3620880"/>
            <a:ext cx="356544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300" spc="-1" strike="noStrike">
                <a:solidFill>
                  <a:srgbClr val="1f3864"/>
                </a:solidFill>
                <a:latin typeface="Calibri"/>
                <a:ea typeface="Calibri"/>
              </a:rPr>
              <a:t>Yöntem</a:t>
            </a:r>
            <a:endParaRPr b="0" lang="tr-TR" sz="1300" spc="-1" strike="noStrike">
              <a:latin typeface="Arial"/>
            </a:endParaRPr>
          </a:p>
        </p:txBody>
      </p:sp>
      <p:sp>
        <p:nvSpPr>
          <p:cNvPr id="67" name="CustomShape 18"/>
          <p:cNvSpPr/>
          <p:nvPr/>
        </p:nvSpPr>
        <p:spPr>
          <a:xfrm>
            <a:off x="960120" y="3895200"/>
            <a:ext cx="35654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6b7280"/>
                </a:solidFill>
                <a:latin typeface="Calibri"/>
                <a:ea typeface="Calibri"/>
              </a:rPr>
              <a:t>Code Llama mimarisi, kaskad eğitim, PEFT/LoRA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68" name="Line 19"/>
          <p:cNvSpPr/>
          <p:nvPr/>
        </p:nvSpPr>
        <p:spPr>
          <a:xfrm>
            <a:off x="365760" y="4581000"/>
            <a:ext cx="4160520" cy="0"/>
          </a:xfrm>
          <a:prstGeom prst="line">
            <a:avLst/>
          </a:prstGeom>
          <a:ln w="648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CustomShape 20"/>
          <p:cNvSpPr/>
          <p:nvPr/>
        </p:nvSpPr>
        <p:spPr>
          <a:xfrm>
            <a:off x="4846320" y="1280160"/>
            <a:ext cx="502200" cy="502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1800" spc="-1" strike="noStrike">
                <a:solidFill>
                  <a:srgbClr val="ffffff"/>
                </a:solidFill>
                <a:latin typeface="Calibri"/>
                <a:ea typeface="Calibri"/>
              </a:rPr>
              <a:t>04</a:t>
            </a:r>
            <a:endParaRPr b="0" lang="tr-TR" sz="1800" spc="-1" strike="noStrike">
              <a:latin typeface="Arial"/>
            </a:endParaRPr>
          </a:p>
        </p:txBody>
      </p:sp>
      <p:sp>
        <p:nvSpPr>
          <p:cNvPr id="70" name="CustomShape 21"/>
          <p:cNvSpPr/>
          <p:nvPr/>
        </p:nvSpPr>
        <p:spPr>
          <a:xfrm>
            <a:off x="5440680" y="1280160"/>
            <a:ext cx="356544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300" spc="-1" strike="noStrike">
                <a:solidFill>
                  <a:srgbClr val="1f3864"/>
                </a:solidFill>
                <a:latin typeface="Calibri"/>
                <a:ea typeface="Calibri"/>
              </a:rPr>
              <a:t>Deney Tasarımı</a:t>
            </a:r>
            <a:endParaRPr b="0" lang="tr-TR" sz="1300" spc="-1" strike="noStrike">
              <a:latin typeface="Arial"/>
            </a:endParaRPr>
          </a:p>
        </p:txBody>
      </p:sp>
      <p:sp>
        <p:nvSpPr>
          <p:cNvPr id="71" name="CustomShape 22"/>
          <p:cNvSpPr/>
          <p:nvPr/>
        </p:nvSpPr>
        <p:spPr>
          <a:xfrm>
            <a:off x="5440680" y="1554480"/>
            <a:ext cx="35654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6b7280"/>
                </a:solidFill>
                <a:latin typeface="Calibri"/>
                <a:ea typeface="Calibri"/>
              </a:rPr>
              <a:t>Veri setleri, benchmark'lar, kontaminasyon sorunu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72" name="Line 23"/>
          <p:cNvSpPr/>
          <p:nvPr/>
        </p:nvSpPr>
        <p:spPr>
          <a:xfrm>
            <a:off x="4846320" y="2240280"/>
            <a:ext cx="4160520" cy="0"/>
          </a:xfrm>
          <a:prstGeom prst="line">
            <a:avLst/>
          </a:prstGeom>
          <a:ln w="648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CustomShape 24"/>
          <p:cNvSpPr/>
          <p:nvPr/>
        </p:nvSpPr>
        <p:spPr>
          <a:xfrm>
            <a:off x="4846320" y="2450520"/>
            <a:ext cx="502200" cy="502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1800" spc="-1" strike="noStrike">
                <a:solidFill>
                  <a:srgbClr val="ffffff"/>
                </a:solidFill>
                <a:latin typeface="Calibri"/>
                <a:ea typeface="Calibri"/>
              </a:rPr>
              <a:t>05</a:t>
            </a:r>
            <a:endParaRPr b="0" lang="tr-TR" sz="1800" spc="-1" strike="noStrike">
              <a:latin typeface="Arial"/>
            </a:endParaRPr>
          </a:p>
        </p:txBody>
      </p:sp>
      <p:sp>
        <p:nvSpPr>
          <p:cNvPr id="74" name="CustomShape 25"/>
          <p:cNvSpPr/>
          <p:nvPr/>
        </p:nvSpPr>
        <p:spPr>
          <a:xfrm>
            <a:off x="5440680" y="2450520"/>
            <a:ext cx="356544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300" spc="-1" strike="noStrike">
                <a:solidFill>
                  <a:srgbClr val="1f3864"/>
                </a:solidFill>
                <a:latin typeface="Calibri"/>
                <a:ea typeface="Calibri"/>
              </a:rPr>
              <a:t>Sonuçlar</a:t>
            </a:r>
            <a:endParaRPr b="0" lang="tr-TR" sz="1300" spc="-1" strike="noStrike">
              <a:latin typeface="Arial"/>
            </a:endParaRPr>
          </a:p>
        </p:txBody>
      </p:sp>
      <p:sp>
        <p:nvSpPr>
          <p:cNvPr id="75" name="CustomShape 26"/>
          <p:cNvSpPr/>
          <p:nvPr/>
        </p:nvSpPr>
        <p:spPr>
          <a:xfrm>
            <a:off x="5440680" y="2724840"/>
            <a:ext cx="35654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6b7280"/>
                </a:solidFill>
                <a:latin typeface="Calibri"/>
                <a:ea typeface="Calibri"/>
              </a:rPr>
              <a:t>HumanEval, MultiPL-E, 2025 günümüz tablosu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76" name="Line 27"/>
          <p:cNvSpPr/>
          <p:nvPr/>
        </p:nvSpPr>
        <p:spPr>
          <a:xfrm>
            <a:off x="4846320" y="3410640"/>
            <a:ext cx="4160520" cy="0"/>
          </a:xfrm>
          <a:prstGeom prst="line">
            <a:avLst/>
          </a:prstGeom>
          <a:ln w="648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CustomShape 28"/>
          <p:cNvSpPr/>
          <p:nvPr/>
        </p:nvSpPr>
        <p:spPr>
          <a:xfrm>
            <a:off x="4846320" y="3620880"/>
            <a:ext cx="502200" cy="502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1800" spc="-1" strike="noStrike">
                <a:solidFill>
                  <a:srgbClr val="ffffff"/>
                </a:solidFill>
                <a:latin typeface="Calibri"/>
                <a:ea typeface="Calibri"/>
              </a:rPr>
              <a:t>06</a:t>
            </a:r>
            <a:endParaRPr b="0" lang="tr-TR" sz="1800" spc="-1" strike="noStrike">
              <a:latin typeface="Arial"/>
            </a:endParaRPr>
          </a:p>
        </p:txBody>
      </p:sp>
      <p:sp>
        <p:nvSpPr>
          <p:cNvPr id="78" name="CustomShape 29"/>
          <p:cNvSpPr/>
          <p:nvPr/>
        </p:nvSpPr>
        <p:spPr>
          <a:xfrm>
            <a:off x="5440680" y="3620880"/>
            <a:ext cx="356544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300" spc="-1" strike="noStrike">
                <a:solidFill>
                  <a:srgbClr val="1f3864"/>
                </a:solidFill>
                <a:latin typeface="Calibri"/>
                <a:ea typeface="Calibri"/>
              </a:rPr>
              <a:t>Gelecek Çalışmalar</a:t>
            </a:r>
            <a:endParaRPr b="0" lang="tr-TR" sz="1300" spc="-1" strike="noStrike">
              <a:latin typeface="Arial"/>
            </a:endParaRPr>
          </a:p>
        </p:txBody>
      </p:sp>
      <p:sp>
        <p:nvSpPr>
          <p:cNvPr id="79" name="CustomShape 30"/>
          <p:cNvSpPr/>
          <p:nvPr/>
        </p:nvSpPr>
        <p:spPr>
          <a:xfrm>
            <a:off x="5440680" y="3895200"/>
            <a:ext cx="35654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6b7280"/>
                </a:solidFill>
                <a:latin typeface="Calibri"/>
                <a:ea typeface="Calibri"/>
              </a:rPr>
              <a:t>Açık araştırma soruları ve yönler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80" name="Line 31"/>
          <p:cNvSpPr/>
          <p:nvPr/>
        </p:nvSpPr>
        <p:spPr>
          <a:xfrm>
            <a:off x="4846320" y="4581000"/>
            <a:ext cx="4160520" cy="0"/>
          </a:xfrm>
          <a:prstGeom prst="line">
            <a:avLst/>
          </a:prstGeom>
          <a:ln w="648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914400" y="1645920"/>
            <a:ext cx="7314480" cy="91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3600" spc="-1" strike="noStrike">
                <a:solidFill>
                  <a:srgbClr val="ffffff"/>
                </a:solidFill>
                <a:latin typeface="Calibri"/>
                <a:ea typeface="Calibri"/>
              </a:rPr>
              <a:t>Problem ve Motivasyon</a:t>
            </a:r>
            <a:endParaRPr b="0" lang="tr-TR" sz="3600" spc="-1" strike="noStrike">
              <a:latin typeface="Arial"/>
            </a:endParaRPr>
          </a:p>
        </p:txBody>
      </p:sp>
      <p:sp>
        <p:nvSpPr>
          <p:cNvPr id="82" name="CustomShape 2"/>
          <p:cNvSpPr/>
          <p:nvPr/>
        </p:nvSpPr>
        <p:spPr>
          <a:xfrm>
            <a:off x="914400" y="2651760"/>
            <a:ext cx="7314480" cy="45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tr-TR" sz="1400" spc="-1" strike="noStrike">
                <a:solidFill>
                  <a:srgbClr val="cadcfc"/>
                </a:solidFill>
                <a:latin typeface="Calibri"/>
                <a:ea typeface="Calibri"/>
              </a:rPr>
              <a:t>Yazılım geliştirmede otomasyon neden kritik?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83" name="CustomShape 3"/>
          <p:cNvSpPr/>
          <p:nvPr/>
        </p:nvSpPr>
        <p:spPr>
          <a:xfrm>
            <a:off x="3200400" y="3200400"/>
            <a:ext cx="2742480" cy="54000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CustomShape 2"/>
          <p:cNvSpPr/>
          <p:nvPr/>
        </p:nvSpPr>
        <p:spPr>
          <a:xfrm>
            <a:off x="457200" y="164520"/>
            <a:ext cx="8228880" cy="59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2400" spc="-1" strike="noStrike">
                <a:solidFill>
                  <a:srgbClr val="1f3864"/>
                </a:solidFill>
                <a:latin typeface="Calibri"/>
                <a:ea typeface="Calibri"/>
              </a:rPr>
              <a:t>Problem ve Motivasyon</a:t>
            </a:r>
            <a:endParaRPr b="0" lang="tr-TR" sz="2400" spc="-1" strike="noStrike">
              <a:latin typeface="Arial"/>
            </a:endParaRPr>
          </a:p>
        </p:txBody>
      </p:sp>
      <p:sp>
        <p:nvSpPr>
          <p:cNvPr id="86" name="CustomShape 3"/>
          <p:cNvSpPr/>
          <p:nvPr/>
        </p:nvSpPr>
        <p:spPr>
          <a:xfrm>
            <a:off x="457200" y="749880"/>
            <a:ext cx="8228880" cy="29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200" spc="-1" strike="noStrike">
                <a:solidFill>
                  <a:srgbClr val="6b7280"/>
                </a:solidFill>
                <a:latin typeface="Calibri"/>
                <a:ea typeface="Calibri"/>
              </a:rPr>
              <a:t>Üç temel darboğaz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87" name="Line 4"/>
          <p:cNvSpPr/>
          <p:nvPr/>
        </p:nvSpPr>
        <p:spPr>
          <a:xfrm>
            <a:off x="457200" y="1023840"/>
            <a:ext cx="8229600" cy="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CustomShape 5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CustomShape 6"/>
          <p:cNvSpPr/>
          <p:nvPr/>
        </p:nvSpPr>
        <p:spPr>
          <a:xfrm>
            <a:off x="365760" y="4937760"/>
            <a:ext cx="7314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900" spc="-1" strike="noStrike">
                <a:solidFill>
                  <a:srgbClr val="cadcfc"/>
                </a:solidFill>
                <a:latin typeface="Calibri"/>
                <a:ea typeface="Calibri"/>
              </a:rPr>
              <a:t>Kod Üretimi için LLM'ler — Code Llama Ekseninde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90" name="CustomShape 7"/>
          <p:cNvSpPr/>
          <p:nvPr/>
        </p:nvSpPr>
        <p:spPr>
          <a:xfrm>
            <a:off x="8503920" y="4937760"/>
            <a:ext cx="456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91" name="CustomShape 8"/>
          <p:cNvSpPr/>
          <p:nvPr/>
        </p:nvSpPr>
        <p:spPr>
          <a:xfrm>
            <a:off x="457200" y="1188720"/>
            <a:ext cx="2559600" cy="73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3200" spc="-1" strike="noStrike">
                <a:solidFill>
                  <a:srgbClr val="0d9488"/>
                </a:solidFill>
                <a:latin typeface="Calibri"/>
                <a:ea typeface="Calibri"/>
              </a:rPr>
              <a:t>6 → 140</a:t>
            </a:r>
            <a:endParaRPr b="0" lang="tr-TR" sz="3200" spc="-1" strike="noStrike">
              <a:latin typeface="Arial"/>
            </a:endParaRPr>
          </a:p>
        </p:txBody>
      </p:sp>
      <p:sp>
        <p:nvSpPr>
          <p:cNvPr id="92" name="CustomShape 9"/>
          <p:cNvSpPr/>
          <p:nvPr/>
        </p:nvSpPr>
        <p:spPr>
          <a:xfrm>
            <a:off x="457200" y="1920240"/>
            <a:ext cx="2559600" cy="502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tr-TR" sz="1000" spc="-1" strike="noStrike">
                <a:solidFill>
                  <a:srgbClr val="6b7280"/>
                </a:solidFill>
                <a:latin typeface="Calibri"/>
                <a:ea typeface="Calibri"/>
              </a:rPr>
              <a:t>yayın sayısı (2021–2024)</a:t>
            </a:r>
            <a:endParaRPr b="0" lang="tr-TR" sz="10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tr-TR" sz="1000" spc="-1" strike="noStrike">
                <a:solidFill>
                  <a:srgbClr val="6b7280"/>
                </a:solidFill>
                <a:latin typeface="Calibri"/>
                <a:ea typeface="Calibri"/>
              </a:rPr>
              <a:t>Jiang vd., 2024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93" name="CustomShape 10"/>
          <p:cNvSpPr/>
          <p:nvPr/>
        </p:nvSpPr>
        <p:spPr>
          <a:xfrm>
            <a:off x="3383280" y="1188720"/>
            <a:ext cx="2285280" cy="73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3200" spc="-1" strike="noStrike">
                <a:solidFill>
                  <a:srgbClr val="d97706"/>
                </a:solidFill>
                <a:latin typeface="Calibri"/>
                <a:ea typeface="Calibri"/>
              </a:rPr>
              <a:t>30-40%</a:t>
            </a:r>
            <a:endParaRPr b="0" lang="tr-TR" sz="3200" spc="-1" strike="noStrike">
              <a:latin typeface="Arial"/>
            </a:endParaRPr>
          </a:p>
        </p:txBody>
      </p:sp>
      <p:sp>
        <p:nvSpPr>
          <p:cNvPr id="94" name="CustomShape 11"/>
          <p:cNvSpPr/>
          <p:nvPr/>
        </p:nvSpPr>
        <p:spPr>
          <a:xfrm>
            <a:off x="3383280" y="1920240"/>
            <a:ext cx="2285280" cy="502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tr-TR" sz="1000" spc="-1" strike="noStrike">
                <a:solidFill>
                  <a:srgbClr val="6b7280"/>
                </a:solidFill>
                <a:latin typeface="Calibri"/>
                <a:ea typeface="Calibri"/>
              </a:rPr>
              <a:t>geliştirici zamanı rutin</a:t>
            </a:r>
            <a:endParaRPr b="0" lang="tr-TR" sz="10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tr-TR" sz="1000" spc="-1" strike="noStrike">
                <a:solidFill>
                  <a:srgbClr val="6b7280"/>
                </a:solidFill>
                <a:latin typeface="Calibri"/>
                <a:ea typeface="Calibri"/>
              </a:rPr>
              <a:t>görevlere harcanıyor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95" name="CustomShape 12"/>
          <p:cNvSpPr/>
          <p:nvPr/>
        </p:nvSpPr>
        <p:spPr>
          <a:xfrm>
            <a:off x="6217920" y="1188720"/>
            <a:ext cx="2376720" cy="73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3200" spc="-1" strike="noStrike">
                <a:solidFill>
                  <a:srgbClr val="dc2626"/>
                </a:solidFill>
                <a:latin typeface="Calibri"/>
                <a:ea typeface="Calibri"/>
              </a:rPr>
              <a:t>%20</a:t>
            </a:r>
            <a:endParaRPr b="0" lang="tr-TR" sz="3200" spc="-1" strike="noStrike">
              <a:latin typeface="Arial"/>
            </a:endParaRPr>
          </a:p>
        </p:txBody>
      </p:sp>
      <p:sp>
        <p:nvSpPr>
          <p:cNvPr id="96" name="CustomShape 13"/>
          <p:cNvSpPr/>
          <p:nvPr/>
        </p:nvSpPr>
        <p:spPr>
          <a:xfrm>
            <a:off x="6217920" y="1920240"/>
            <a:ext cx="2376720" cy="502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tr-TR" sz="1000" spc="-1" strike="noStrike">
                <a:solidFill>
                  <a:srgbClr val="6b7280"/>
                </a:solidFill>
                <a:latin typeface="Calibri"/>
                <a:ea typeface="Calibri"/>
              </a:rPr>
              <a:t>zafiyet onarım başarısı</a:t>
            </a:r>
            <a:endParaRPr b="0" lang="tr-TR" sz="10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tr-TR" sz="1000" spc="-1" strike="noStrike">
                <a:solidFill>
                  <a:srgbClr val="6b7280"/>
                </a:solidFill>
                <a:latin typeface="Calibri"/>
                <a:ea typeface="Calibri"/>
              </a:rPr>
              <a:t>(Zhou vd., 2025)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97" name="Line 14"/>
          <p:cNvSpPr/>
          <p:nvPr/>
        </p:nvSpPr>
        <p:spPr>
          <a:xfrm>
            <a:off x="457200" y="2514600"/>
            <a:ext cx="8229600" cy="0"/>
          </a:xfrm>
          <a:prstGeom prst="line">
            <a:avLst/>
          </a:prstGeom>
          <a:ln w="1008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CustomShape 15"/>
          <p:cNvSpPr/>
          <p:nvPr/>
        </p:nvSpPr>
        <p:spPr>
          <a:xfrm>
            <a:off x="365760" y="2651760"/>
            <a:ext cx="2651040" cy="31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200" spc="-1" strike="noStrike">
                <a:solidFill>
                  <a:srgbClr val="1f3864"/>
                </a:solidFill>
                <a:latin typeface="Calibri"/>
                <a:ea typeface="Calibri"/>
              </a:rPr>
              <a:t>🔒  </a:t>
            </a:r>
            <a:r>
              <a:rPr b="1" lang="tr-TR" sz="1200" spc="-1" strike="noStrike">
                <a:solidFill>
                  <a:srgbClr val="1f3864"/>
                </a:solidFill>
                <a:latin typeface="Calibri"/>
                <a:ea typeface="Calibri"/>
              </a:rPr>
              <a:t>Erişim Sorunu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99" name="CustomShape 16"/>
          <p:cNvSpPr/>
          <p:nvPr/>
        </p:nvSpPr>
        <p:spPr>
          <a:xfrm>
            <a:off x="365760" y="2971800"/>
            <a:ext cx="2651040" cy="1690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e293b"/>
                </a:solidFill>
                <a:latin typeface="Calibri"/>
                <a:ea typeface="Calibri"/>
              </a:rPr>
              <a:t>Codex, GPT-4, AlphaCode API'ye kilitli. İnce ayar, inceleme, yerel dağıtım mümkün değil.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100" name="CustomShape 17"/>
          <p:cNvSpPr/>
          <p:nvPr/>
        </p:nvSpPr>
        <p:spPr>
          <a:xfrm>
            <a:off x="3291840" y="2651760"/>
            <a:ext cx="2651040" cy="31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200" spc="-1" strike="noStrike">
                <a:solidFill>
                  <a:srgbClr val="1f3864"/>
                </a:solidFill>
                <a:latin typeface="Calibri"/>
                <a:ea typeface="Calibri"/>
              </a:rPr>
              <a:t>📁  </a:t>
            </a:r>
            <a:r>
              <a:rPr b="1" lang="tr-TR" sz="1200" spc="-1" strike="noStrike">
                <a:solidFill>
                  <a:srgbClr val="1f3864"/>
                </a:solidFill>
                <a:latin typeface="Calibri"/>
                <a:ea typeface="Calibri"/>
              </a:rPr>
              <a:t>Kapsam Sorunu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101" name="CustomShape 18"/>
          <p:cNvSpPr/>
          <p:nvPr/>
        </p:nvSpPr>
        <p:spPr>
          <a:xfrm>
            <a:off x="3291840" y="2971800"/>
            <a:ext cx="2651040" cy="1690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e293b"/>
                </a:solidFill>
                <a:latin typeface="Calibri"/>
                <a:ea typeface="Calibri"/>
              </a:rPr>
              <a:t>Araçlar izole fonksiyon üretiyor. Depo düzeyinde çok dosyalı görevlerde performans düşüyor.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102" name="CustomShape 19"/>
          <p:cNvSpPr/>
          <p:nvPr/>
        </p:nvSpPr>
        <p:spPr>
          <a:xfrm>
            <a:off x="6217920" y="2651760"/>
            <a:ext cx="2651040" cy="31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200" spc="-1" strike="noStrike">
                <a:solidFill>
                  <a:srgbClr val="1f3864"/>
                </a:solidFill>
                <a:latin typeface="Calibri"/>
                <a:ea typeface="Calibri"/>
              </a:rPr>
              <a:t>🛡️  </a:t>
            </a:r>
            <a:r>
              <a:rPr b="1" lang="tr-TR" sz="1200" spc="-1" strike="noStrike">
                <a:solidFill>
                  <a:srgbClr val="1f3864"/>
                </a:solidFill>
                <a:latin typeface="Calibri"/>
                <a:ea typeface="Calibri"/>
              </a:rPr>
              <a:t>Güven Sorunu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103" name="CustomShape 20"/>
          <p:cNvSpPr/>
          <p:nvPr/>
        </p:nvSpPr>
        <p:spPr>
          <a:xfrm>
            <a:off x="6217920" y="2971800"/>
            <a:ext cx="2651040" cy="1690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e293b"/>
                </a:solidFill>
                <a:latin typeface="Calibri"/>
                <a:ea typeface="Calibri"/>
              </a:rPr>
              <a:t>Üretilen kodun güvenlik açıkları açısından sistematik değerlendirilmesi yetersiz.</a:t>
            </a:r>
            <a:endParaRPr b="0" lang="tr-TR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914400" y="1645920"/>
            <a:ext cx="7314480" cy="91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3600" spc="-1" strike="noStrike">
                <a:solidFill>
                  <a:srgbClr val="ffffff"/>
                </a:solidFill>
                <a:latin typeface="Calibri"/>
                <a:ea typeface="Calibri"/>
              </a:rPr>
              <a:t>Literatür Boşluğu</a:t>
            </a:r>
            <a:endParaRPr b="0" lang="tr-TR" sz="3600" spc="-1" strike="noStrike">
              <a:latin typeface="Arial"/>
            </a:endParaRPr>
          </a:p>
        </p:txBody>
      </p:sp>
      <p:sp>
        <p:nvSpPr>
          <p:cNvPr id="105" name="CustomShape 2"/>
          <p:cNvSpPr/>
          <p:nvPr/>
        </p:nvSpPr>
        <p:spPr>
          <a:xfrm>
            <a:off x="914400" y="2651760"/>
            <a:ext cx="7314480" cy="45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tr-TR" sz="1400" spc="-1" strike="noStrike">
                <a:solidFill>
                  <a:srgbClr val="cadcfc"/>
                </a:solidFill>
                <a:latin typeface="Calibri"/>
                <a:ea typeface="Calibri"/>
              </a:rPr>
              <a:t>8 model — veri, yöntem, performans karşılaştırması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106" name="CustomShape 3"/>
          <p:cNvSpPr/>
          <p:nvPr/>
        </p:nvSpPr>
        <p:spPr>
          <a:xfrm>
            <a:off x="3200400" y="3200400"/>
            <a:ext cx="2742480" cy="54000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stomShape 1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CustomShape 2"/>
          <p:cNvSpPr/>
          <p:nvPr/>
        </p:nvSpPr>
        <p:spPr>
          <a:xfrm>
            <a:off x="457200" y="164520"/>
            <a:ext cx="8228880" cy="59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2400" spc="-1" strike="noStrike">
                <a:solidFill>
                  <a:srgbClr val="1f3864"/>
                </a:solidFill>
                <a:latin typeface="Calibri"/>
                <a:ea typeface="Calibri"/>
              </a:rPr>
              <a:t>Karşılaştırmalı Literatür Tablosu</a:t>
            </a:r>
            <a:endParaRPr b="0" lang="tr-TR" sz="2400" spc="-1" strike="noStrike">
              <a:latin typeface="Arial"/>
            </a:endParaRPr>
          </a:p>
        </p:txBody>
      </p:sp>
      <p:sp>
        <p:nvSpPr>
          <p:cNvPr id="109" name="CustomShape 3"/>
          <p:cNvSpPr/>
          <p:nvPr/>
        </p:nvSpPr>
        <p:spPr>
          <a:xfrm>
            <a:off x="457200" y="749880"/>
            <a:ext cx="8228880" cy="29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200" spc="-1" strike="noStrike">
                <a:solidFill>
                  <a:srgbClr val="6b7280"/>
                </a:solidFill>
                <a:latin typeface="Calibri"/>
                <a:ea typeface="Calibri"/>
              </a:rPr>
              <a:t>Tablo 1. Temel modeller — veri, yöntem, HumanEval pass@1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110" name="Line 4"/>
          <p:cNvSpPr/>
          <p:nvPr/>
        </p:nvSpPr>
        <p:spPr>
          <a:xfrm>
            <a:off x="457200" y="1023840"/>
            <a:ext cx="8229600" cy="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CustomShape 5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CustomShape 6"/>
          <p:cNvSpPr/>
          <p:nvPr/>
        </p:nvSpPr>
        <p:spPr>
          <a:xfrm>
            <a:off x="365760" y="4937760"/>
            <a:ext cx="7314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900" spc="-1" strike="noStrike">
                <a:solidFill>
                  <a:srgbClr val="cadcfc"/>
                </a:solidFill>
                <a:latin typeface="Calibri"/>
                <a:ea typeface="Calibri"/>
              </a:rPr>
              <a:t>Kod Üretimi için LLM'ler — Code Llama Ekseninde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113" name="CustomShape 7"/>
          <p:cNvSpPr/>
          <p:nvPr/>
        </p:nvSpPr>
        <p:spPr>
          <a:xfrm>
            <a:off x="8503920" y="4937760"/>
            <a:ext cx="456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tr-TR" sz="900" spc="-1" strike="noStrike">
              <a:latin typeface="Arial"/>
            </a:endParaRPr>
          </a:p>
        </p:txBody>
      </p:sp>
      <p:graphicFrame>
        <p:nvGraphicFramePr>
          <p:cNvPr id="114" name="Table 8"/>
          <p:cNvGraphicFramePr/>
          <p:nvPr/>
        </p:nvGraphicFramePr>
        <p:xfrm>
          <a:off x="274320" y="1143000"/>
          <a:ext cx="8595000" cy="3071520"/>
        </p:xfrm>
        <a:graphic>
          <a:graphicData uri="http://schemas.openxmlformats.org/drawingml/2006/table">
            <a:tbl>
              <a:tblPr/>
              <a:tblGrid>
                <a:gridCol w="1737360"/>
                <a:gridCol w="777240"/>
                <a:gridCol w="685800"/>
                <a:gridCol w="914400"/>
                <a:gridCol w="2194560"/>
                <a:gridCol w="2286000"/>
              </a:tblGrid>
              <a:tr h="3837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tr-TR" sz="9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Model / Yıl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tr-TR" sz="9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Boyut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tr-TR" sz="9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Veri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tr-TR" sz="9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HumanEval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tr-TR" sz="9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Güçlü Yön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tr-TR" sz="9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Zayıf Yön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</a:tr>
              <a:tr h="3837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Llama 2 (2023)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7B–70B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2T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%12–30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Genel dil, ticari lisans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Kod performansı zayıf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</a:tr>
              <a:tr h="3837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tr-TR" sz="950" spc="-1" strike="noStrike">
                          <a:solidFill>
                            <a:srgbClr val="0d9488"/>
                          </a:solidFill>
                          <a:latin typeface="Calibri"/>
                          <a:ea typeface="Calibri"/>
                        </a:rPr>
                        <a:t>Code Llama (2023) ★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7B–70B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500B–1T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%33–68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FIM + LCFT, açık lisans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Düşük kaynaklı dil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</a:tr>
              <a:tr h="3837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StarCoder (2023)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15.5B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1T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%33.6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PII koruması, şeffaf veri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Benchmark skoru düşük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</a:tr>
              <a:tr h="3837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DeepSeek-Coder (2024)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1.3B–33B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2T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%56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Repo-level eğitim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Pipeline kapalı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</a:tr>
              <a:tr h="3837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Qwen2.5-Coder (2024)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0.5B–32B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5.5T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%92.7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7B pek çok 70B'yi geçiyor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Reasoning'in gerisinde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</a:tr>
              <a:tr h="3837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OpenCoder (2025)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8B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2.5T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%83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Tam şeffaf pipeline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Küçük parametre boyutu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</a:tr>
              <a:tr h="3855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Llama 3 (2024)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8B–405B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15T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%89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Code Llama mirasını aldı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9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İngilizce ağırlıklı</a:t>
                      </a:r>
                      <a:endParaRPr b="0" lang="tr-TR" sz="95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CustomShape 2"/>
          <p:cNvSpPr/>
          <p:nvPr/>
        </p:nvSpPr>
        <p:spPr>
          <a:xfrm>
            <a:off x="457200" y="164520"/>
            <a:ext cx="8228880" cy="59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2400" spc="-1" strike="noStrike">
                <a:solidFill>
                  <a:srgbClr val="1f3864"/>
                </a:solidFill>
                <a:latin typeface="Calibri"/>
                <a:ea typeface="Calibri"/>
              </a:rPr>
              <a:t>Tespit Edilen Literatür Boşlukları</a:t>
            </a:r>
            <a:endParaRPr b="0" lang="tr-TR" sz="2400" spc="-1" strike="noStrike">
              <a:latin typeface="Arial"/>
            </a:endParaRPr>
          </a:p>
        </p:txBody>
      </p:sp>
      <p:sp>
        <p:nvSpPr>
          <p:cNvPr id="117" name="CustomShape 3"/>
          <p:cNvSpPr/>
          <p:nvPr/>
        </p:nvSpPr>
        <p:spPr>
          <a:xfrm>
            <a:off x="457200" y="749880"/>
            <a:ext cx="8228880" cy="29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200" spc="-1" strike="noStrike">
                <a:solidFill>
                  <a:srgbClr val="6b7280"/>
                </a:solidFill>
                <a:latin typeface="Calibri"/>
                <a:ea typeface="Calibri"/>
              </a:rPr>
              <a:t>Mevcut hiçbir model üç kriteri birden sağlayamıyor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118" name="Line 4"/>
          <p:cNvSpPr/>
          <p:nvPr/>
        </p:nvSpPr>
        <p:spPr>
          <a:xfrm>
            <a:off x="457200" y="1023840"/>
            <a:ext cx="8229600" cy="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CustomShape 5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CustomShape 6"/>
          <p:cNvSpPr/>
          <p:nvPr/>
        </p:nvSpPr>
        <p:spPr>
          <a:xfrm>
            <a:off x="365760" y="4937760"/>
            <a:ext cx="7314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900" spc="-1" strike="noStrike">
                <a:solidFill>
                  <a:srgbClr val="cadcfc"/>
                </a:solidFill>
                <a:latin typeface="Calibri"/>
                <a:ea typeface="Calibri"/>
              </a:rPr>
              <a:t>Kod Üretimi için LLM'ler — Code Llama Ekseninde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121" name="CustomShape 7"/>
          <p:cNvSpPr/>
          <p:nvPr/>
        </p:nvSpPr>
        <p:spPr>
          <a:xfrm>
            <a:off x="8503920" y="4937760"/>
            <a:ext cx="456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122" name="CustomShape 8"/>
          <p:cNvSpPr/>
          <p:nvPr/>
        </p:nvSpPr>
        <p:spPr>
          <a:xfrm>
            <a:off x="457200" y="1097280"/>
            <a:ext cx="8228880" cy="45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250" spc="-1" strike="noStrike">
                <a:solidFill>
                  <a:srgbClr val="1f3864"/>
                </a:solidFill>
                <a:latin typeface="Calibri"/>
                <a:ea typeface="Calibri"/>
              </a:rPr>
              <a:t>Temel boşluk: Yüksek performans + Tam şeffaflık + Geniş dil desteği üçlüsünü aynı anda sağlayan bir model henüz yok.</a:t>
            </a:r>
            <a:endParaRPr b="0" lang="tr-TR" sz="1250" spc="-1" strike="noStrike">
              <a:latin typeface="Arial"/>
            </a:endParaRPr>
          </a:p>
        </p:txBody>
      </p:sp>
      <p:sp>
        <p:nvSpPr>
          <p:cNvPr id="123" name="CustomShape 9"/>
          <p:cNvSpPr/>
          <p:nvPr/>
        </p:nvSpPr>
        <p:spPr>
          <a:xfrm>
            <a:off x="457200" y="1737360"/>
            <a:ext cx="410760" cy="410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16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tr-TR" sz="1600" spc="-1" strike="noStrike">
              <a:latin typeface="Arial"/>
            </a:endParaRPr>
          </a:p>
        </p:txBody>
      </p:sp>
      <p:sp>
        <p:nvSpPr>
          <p:cNvPr id="124" name="CustomShape 10"/>
          <p:cNvSpPr/>
          <p:nvPr/>
        </p:nvSpPr>
        <p:spPr>
          <a:xfrm>
            <a:off x="1005840" y="1719000"/>
            <a:ext cx="228528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200" spc="-1" strike="noStrike">
                <a:solidFill>
                  <a:srgbClr val="1f3864"/>
                </a:solidFill>
                <a:latin typeface="Calibri"/>
                <a:ea typeface="Calibri"/>
              </a:rPr>
              <a:t>Benchmark güvenilirliği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125" name="CustomShape 11"/>
          <p:cNvSpPr/>
          <p:nvPr/>
        </p:nvSpPr>
        <p:spPr>
          <a:xfrm>
            <a:off x="1005840" y="1965960"/>
            <a:ext cx="7588800" cy="41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e293b"/>
                </a:solidFill>
                <a:latin typeface="Calibri"/>
                <a:ea typeface="Calibri"/>
              </a:rPr>
              <a:t>HumanEval neredeyse doygunluğa ulaştı. LiveCodeBench (Jain vd., 2024) ile kanıtlanan kontaminasyon sorunu, yüksek skorların bir kısmının "ezberleme" kaynaklı olabileceğini gösteriyor.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126" name="CustomShape 12"/>
          <p:cNvSpPr/>
          <p:nvPr/>
        </p:nvSpPr>
        <p:spPr>
          <a:xfrm>
            <a:off x="457200" y="2514600"/>
            <a:ext cx="410760" cy="410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16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tr-TR" sz="1600" spc="-1" strike="noStrike">
              <a:latin typeface="Arial"/>
            </a:endParaRPr>
          </a:p>
        </p:txBody>
      </p:sp>
      <p:sp>
        <p:nvSpPr>
          <p:cNvPr id="127" name="CustomShape 13"/>
          <p:cNvSpPr/>
          <p:nvPr/>
        </p:nvSpPr>
        <p:spPr>
          <a:xfrm>
            <a:off x="1005840" y="2496240"/>
            <a:ext cx="228528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200" spc="-1" strike="noStrike">
                <a:solidFill>
                  <a:srgbClr val="1f3864"/>
                </a:solidFill>
                <a:latin typeface="Calibri"/>
                <a:ea typeface="Calibri"/>
              </a:rPr>
              <a:t>Depo düzeyi anlama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128" name="CustomShape 14"/>
          <p:cNvSpPr/>
          <p:nvPr/>
        </p:nvSpPr>
        <p:spPr>
          <a:xfrm>
            <a:off x="1005840" y="2743200"/>
            <a:ext cx="7588800" cy="41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e293b"/>
                </a:solidFill>
                <a:latin typeface="Calibri"/>
                <a:ea typeface="Calibri"/>
              </a:rPr>
              <a:t>SWE-bench'te en iyi model gerçek GitHub issue'larının yalnızca %1,96'sını çözebiliyordu (2023). Çok dosyalı bağımlılıklar ve mimari kararlar henüz sistematik biçimde ele alınamıyor.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129" name="CustomShape 15"/>
          <p:cNvSpPr/>
          <p:nvPr/>
        </p:nvSpPr>
        <p:spPr>
          <a:xfrm>
            <a:off x="457200" y="3291840"/>
            <a:ext cx="410760" cy="410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16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tr-TR" sz="1600" spc="-1" strike="noStrike">
              <a:latin typeface="Arial"/>
            </a:endParaRPr>
          </a:p>
        </p:txBody>
      </p:sp>
      <p:sp>
        <p:nvSpPr>
          <p:cNvPr id="130" name="CustomShape 16"/>
          <p:cNvSpPr/>
          <p:nvPr/>
        </p:nvSpPr>
        <p:spPr>
          <a:xfrm>
            <a:off x="1005840" y="3273480"/>
            <a:ext cx="228528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200" spc="-1" strike="noStrike">
                <a:solidFill>
                  <a:srgbClr val="1f3864"/>
                </a:solidFill>
                <a:latin typeface="Calibri"/>
                <a:ea typeface="Calibri"/>
              </a:rPr>
              <a:t>Veri şeffaflığı eksikliği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131" name="CustomShape 17"/>
          <p:cNvSpPr/>
          <p:nvPr/>
        </p:nvSpPr>
        <p:spPr>
          <a:xfrm>
            <a:off x="1005840" y="3520440"/>
            <a:ext cx="7588800" cy="41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e293b"/>
                </a:solidFill>
                <a:latin typeface="Calibri"/>
                <a:ea typeface="Calibri"/>
              </a:rPr>
              <a:t>DeepSeek-Coder ve Qwen2.5-Coder kapalı pipeline kullanıyor. OpenCoder (2025) bir istisna; eğitim sürecini eksiksiz belgeledi.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132" name="CustomShape 18"/>
          <p:cNvSpPr/>
          <p:nvPr/>
        </p:nvSpPr>
        <p:spPr>
          <a:xfrm>
            <a:off x="457200" y="4069080"/>
            <a:ext cx="410760" cy="410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16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tr-TR" sz="1600" spc="-1" strike="noStrike">
              <a:latin typeface="Arial"/>
            </a:endParaRPr>
          </a:p>
        </p:txBody>
      </p:sp>
      <p:sp>
        <p:nvSpPr>
          <p:cNvPr id="133" name="CustomShape 19"/>
          <p:cNvSpPr/>
          <p:nvPr/>
        </p:nvSpPr>
        <p:spPr>
          <a:xfrm>
            <a:off x="1005840" y="4050720"/>
            <a:ext cx="228528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200" spc="-1" strike="noStrike">
                <a:solidFill>
                  <a:srgbClr val="1f3864"/>
                </a:solidFill>
                <a:latin typeface="Calibri"/>
                <a:ea typeface="Calibri"/>
              </a:rPr>
              <a:t>Düşük kaynaklı dil desteği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134" name="CustomShape 20"/>
          <p:cNvSpPr/>
          <p:nvPr/>
        </p:nvSpPr>
        <p:spPr>
          <a:xfrm>
            <a:off x="1005840" y="4297680"/>
            <a:ext cx="7588800" cy="41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e293b"/>
                </a:solidFill>
                <a:latin typeface="Calibri"/>
                <a:ea typeface="Calibri"/>
              </a:rPr>
              <a:t>Eğitim verisinin %90'ı İngilizce. Türkçe dahil pek çok dil sistematik dezavantaj altında. MultiPL-E'de Bash ve niş dillerde performans belirgin biçimde düşük.</a:t>
            </a:r>
            <a:endParaRPr b="0" lang="tr-TR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CustomShape 1"/>
          <p:cNvSpPr/>
          <p:nvPr/>
        </p:nvSpPr>
        <p:spPr>
          <a:xfrm>
            <a:off x="914400" y="1645920"/>
            <a:ext cx="7314480" cy="91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3600" spc="-1" strike="noStrike">
                <a:solidFill>
                  <a:srgbClr val="ffffff"/>
                </a:solidFill>
                <a:latin typeface="Calibri"/>
                <a:ea typeface="Calibri"/>
              </a:rPr>
              <a:t>Yöntem</a:t>
            </a:r>
            <a:endParaRPr b="0" lang="tr-TR" sz="3600" spc="-1" strike="noStrike">
              <a:latin typeface="Arial"/>
            </a:endParaRPr>
          </a:p>
        </p:txBody>
      </p:sp>
      <p:sp>
        <p:nvSpPr>
          <p:cNvPr id="136" name="CustomShape 2"/>
          <p:cNvSpPr/>
          <p:nvPr/>
        </p:nvSpPr>
        <p:spPr>
          <a:xfrm>
            <a:off x="914400" y="2651760"/>
            <a:ext cx="7314480" cy="45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tr-TR" sz="1400" spc="-1" strike="noStrike">
                <a:solidFill>
                  <a:srgbClr val="cadcfc"/>
                </a:solidFill>
                <a:latin typeface="Calibri"/>
                <a:ea typeface="Calibri"/>
              </a:rPr>
              <a:t>Code Llama mimarisi ve eğitim yaklaşımları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137" name="CustomShape 3"/>
          <p:cNvSpPr/>
          <p:nvPr/>
        </p:nvSpPr>
        <p:spPr>
          <a:xfrm>
            <a:off x="3200400" y="3200400"/>
            <a:ext cx="2742480" cy="54000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CustomShape 2"/>
          <p:cNvSpPr/>
          <p:nvPr/>
        </p:nvSpPr>
        <p:spPr>
          <a:xfrm>
            <a:off x="457200" y="164520"/>
            <a:ext cx="8228880" cy="59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2400" spc="-1" strike="noStrike">
                <a:solidFill>
                  <a:srgbClr val="1f3864"/>
                </a:solidFill>
                <a:latin typeface="Calibri"/>
                <a:ea typeface="Calibri"/>
              </a:rPr>
              <a:t>Code Llama: 4 Aşamalı Kaskad Eğitim</a:t>
            </a:r>
            <a:endParaRPr b="0" lang="tr-TR" sz="2400" spc="-1" strike="noStrike">
              <a:latin typeface="Arial"/>
            </a:endParaRPr>
          </a:p>
        </p:txBody>
      </p:sp>
      <p:sp>
        <p:nvSpPr>
          <p:cNvPr id="140" name="CustomShape 3"/>
          <p:cNvSpPr/>
          <p:nvPr/>
        </p:nvSpPr>
        <p:spPr>
          <a:xfrm>
            <a:off x="457200" y="749880"/>
            <a:ext cx="8228880" cy="29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200" spc="-1" strike="noStrike">
                <a:solidFill>
                  <a:srgbClr val="6b7280"/>
                </a:solidFill>
                <a:latin typeface="Calibri"/>
                <a:ea typeface="Calibri"/>
              </a:rPr>
              <a:t>Decoder-only Transformer — Llama 2 ağırlıklarından başlar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141" name="Line 4"/>
          <p:cNvSpPr/>
          <p:nvPr/>
        </p:nvSpPr>
        <p:spPr>
          <a:xfrm>
            <a:off x="457200" y="1023840"/>
            <a:ext cx="8229600" cy="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CustomShape 5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CustomShape 6"/>
          <p:cNvSpPr/>
          <p:nvPr/>
        </p:nvSpPr>
        <p:spPr>
          <a:xfrm>
            <a:off x="365760" y="4937760"/>
            <a:ext cx="7314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900" spc="-1" strike="noStrike">
                <a:solidFill>
                  <a:srgbClr val="cadcfc"/>
                </a:solidFill>
                <a:latin typeface="Calibri"/>
                <a:ea typeface="Calibri"/>
              </a:rPr>
              <a:t>Kod Üretimi için LLM'ler — Code Llama Ekseninde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144" name="CustomShape 7"/>
          <p:cNvSpPr/>
          <p:nvPr/>
        </p:nvSpPr>
        <p:spPr>
          <a:xfrm>
            <a:off x="8503920" y="4937760"/>
            <a:ext cx="456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145" name="CustomShape 8"/>
          <p:cNvSpPr/>
          <p:nvPr/>
        </p:nvSpPr>
        <p:spPr>
          <a:xfrm>
            <a:off x="274320" y="1188720"/>
            <a:ext cx="1965240" cy="36504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CustomShape 9"/>
          <p:cNvSpPr/>
          <p:nvPr/>
        </p:nvSpPr>
        <p:spPr>
          <a:xfrm>
            <a:off x="274320" y="1188720"/>
            <a:ext cx="19652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1100" spc="-1" strike="noStrike">
                <a:solidFill>
                  <a:srgbClr val="ffffff"/>
                </a:solidFill>
                <a:latin typeface="Calibri"/>
                <a:ea typeface="Calibri"/>
              </a:rPr>
              <a:t>1. Sürekli Ön Eğitim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147" name="CustomShape 10"/>
          <p:cNvSpPr/>
          <p:nvPr/>
        </p:nvSpPr>
        <p:spPr>
          <a:xfrm>
            <a:off x="320040" y="1664280"/>
            <a:ext cx="1873800" cy="34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— </a:t>
            </a: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500B token kod verisi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148" name="CustomShape 11"/>
          <p:cNvSpPr/>
          <p:nvPr/>
        </p:nvSpPr>
        <p:spPr>
          <a:xfrm>
            <a:off x="320040" y="2030040"/>
            <a:ext cx="1873800" cy="34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— </a:t>
            </a: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%85 kod, %15 doğal dil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149" name="CustomShape 12"/>
          <p:cNvSpPr/>
          <p:nvPr/>
        </p:nvSpPr>
        <p:spPr>
          <a:xfrm>
            <a:off x="320040" y="2395800"/>
            <a:ext cx="1873800" cy="34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— </a:t>
            </a: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Llama 2'den başlamak = 240B token tasarruf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150" name="CustomShape 13"/>
          <p:cNvSpPr/>
          <p:nvPr/>
        </p:nvSpPr>
        <p:spPr>
          <a:xfrm>
            <a:off x="2240280" y="1307520"/>
            <a:ext cx="227880" cy="22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tr-TR" sz="1400" spc="-1" strike="noStrike">
                <a:solidFill>
                  <a:srgbClr val="6b7280"/>
                </a:solidFill>
                <a:latin typeface="Calibri"/>
                <a:ea typeface="Calibri"/>
              </a:rPr>
              <a:t>→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151" name="CustomShape 14"/>
          <p:cNvSpPr/>
          <p:nvPr/>
        </p:nvSpPr>
        <p:spPr>
          <a:xfrm>
            <a:off x="2468880" y="1188720"/>
            <a:ext cx="1965240" cy="365040"/>
          </a:xfrm>
          <a:prstGeom prst="rect">
            <a:avLst/>
          </a:prstGeom>
          <a:solidFill>
            <a:srgbClr val="2e5090"/>
          </a:solidFill>
          <a:ln w="12600">
            <a:solidFill>
              <a:srgbClr val="2e5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CustomShape 15"/>
          <p:cNvSpPr/>
          <p:nvPr/>
        </p:nvSpPr>
        <p:spPr>
          <a:xfrm>
            <a:off x="2468880" y="1188720"/>
            <a:ext cx="19652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1100" spc="-1" strike="noStrike">
                <a:solidFill>
                  <a:srgbClr val="ffffff"/>
                </a:solidFill>
                <a:latin typeface="Calibri"/>
                <a:ea typeface="Calibri"/>
              </a:rPr>
              <a:t>2. FIM Eğitimi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153" name="CustomShape 16"/>
          <p:cNvSpPr/>
          <p:nvPr/>
        </p:nvSpPr>
        <p:spPr>
          <a:xfrm>
            <a:off x="2514600" y="1664280"/>
            <a:ext cx="1873800" cy="34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— </a:t>
            </a: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Fill-in-the-Middle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154" name="CustomShape 17"/>
          <p:cNvSpPr/>
          <p:nvPr/>
        </p:nvSpPr>
        <p:spPr>
          <a:xfrm>
            <a:off x="2514600" y="2030040"/>
            <a:ext cx="1873800" cy="34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— </a:t>
            </a: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7B, 13B, 70B modellerinde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155" name="CustomShape 18"/>
          <p:cNvSpPr/>
          <p:nvPr/>
        </p:nvSpPr>
        <p:spPr>
          <a:xfrm>
            <a:off x="2514600" y="2395800"/>
            <a:ext cx="1873800" cy="34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— </a:t>
            </a: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Pass@1'i sadece 0,4–1,1 puan düşürüyor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156" name="CustomShape 19"/>
          <p:cNvSpPr/>
          <p:nvPr/>
        </p:nvSpPr>
        <p:spPr>
          <a:xfrm>
            <a:off x="4434840" y="1307520"/>
            <a:ext cx="227880" cy="22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tr-TR" sz="1400" spc="-1" strike="noStrike">
                <a:solidFill>
                  <a:srgbClr val="6b7280"/>
                </a:solidFill>
                <a:latin typeface="Calibri"/>
                <a:ea typeface="Calibri"/>
              </a:rPr>
              <a:t>→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157" name="CustomShape 20"/>
          <p:cNvSpPr/>
          <p:nvPr/>
        </p:nvSpPr>
        <p:spPr>
          <a:xfrm>
            <a:off x="4663440" y="1188720"/>
            <a:ext cx="1965240" cy="365040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CustomShape 21"/>
          <p:cNvSpPr/>
          <p:nvPr/>
        </p:nvSpPr>
        <p:spPr>
          <a:xfrm>
            <a:off x="4663440" y="1188720"/>
            <a:ext cx="19652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1100" spc="-1" strike="noStrike">
                <a:solidFill>
                  <a:srgbClr val="ffffff"/>
                </a:solidFill>
                <a:latin typeface="Calibri"/>
                <a:ea typeface="Calibri"/>
              </a:rPr>
              <a:t>3. Uzun Bağlam (LCFT)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159" name="CustomShape 22"/>
          <p:cNvSpPr/>
          <p:nvPr/>
        </p:nvSpPr>
        <p:spPr>
          <a:xfrm>
            <a:off x="4709160" y="1664280"/>
            <a:ext cx="1873800" cy="34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— </a:t>
            </a: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4K → 100K token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160" name="CustomShape 23"/>
          <p:cNvSpPr/>
          <p:nvPr/>
        </p:nvSpPr>
        <p:spPr>
          <a:xfrm>
            <a:off x="4709160" y="2030040"/>
            <a:ext cx="1873800" cy="34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— </a:t>
            </a: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RoPE θ: 10⁴ → 10⁶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161" name="CustomShape 24"/>
          <p:cNvSpPr/>
          <p:nvPr/>
        </p:nvSpPr>
        <p:spPr>
          <a:xfrm>
            <a:off x="4709160" y="2395800"/>
            <a:ext cx="1873800" cy="34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— </a:t>
            </a: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16K ile fine-tune edildi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162" name="CustomShape 25"/>
          <p:cNvSpPr/>
          <p:nvPr/>
        </p:nvSpPr>
        <p:spPr>
          <a:xfrm>
            <a:off x="6629400" y="1307520"/>
            <a:ext cx="227880" cy="22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tr-TR" sz="1400" spc="-1" strike="noStrike">
                <a:solidFill>
                  <a:srgbClr val="6b7280"/>
                </a:solidFill>
                <a:latin typeface="Calibri"/>
                <a:ea typeface="Calibri"/>
              </a:rPr>
              <a:t>→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163" name="CustomShape 26"/>
          <p:cNvSpPr/>
          <p:nvPr/>
        </p:nvSpPr>
        <p:spPr>
          <a:xfrm>
            <a:off x="6858000" y="1188720"/>
            <a:ext cx="1965240" cy="36504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CustomShape 27"/>
          <p:cNvSpPr/>
          <p:nvPr/>
        </p:nvSpPr>
        <p:spPr>
          <a:xfrm>
            <a:off x="6858000" y="1188720"/>
            <a:ext cx="19652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1100" spc="-1" strike="noStrike">
                <a:solidFill>
                  <a:srgbClr val="ffffff"/>
                </a:solidFill>
                <a:latin typeface="Calibri"/>
                <a:ea typeface="Calibri"/>
              </a:rPr>
              <a:t>4. Instruction Tuning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165" name="CustomShape 28"/>
          <p:cNvSpPr/>
          <p:nvPr/>
        </p:nvSpPr>
        <p:spPr>
          <a:xfrm>
            <a:off x="6903720" y="1664280"/>
            <a:ext cx="1873800" cy="34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— </a:t>
            </a: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14K self-instruct örneği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166" name="CustomShape 29"/>
          <p:cNvSpPr/>
          <p:nvPr/>
        </p:nvSpPr>
        <p:spPr>
          <a:xfrm>
            <a:off x="6903720" y="2030040"/>
            <a:ext cx="1873800" cy="34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— </a:t>
            </a: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RLHF verisi entegre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167" name="CustomShape 30"/>
          <p:cNvSpPr/>
          <p:nvPr/>
        </p:nvSpPr>
        <p:spPr>
          <a:xfrm>
            <a:off x="6903720" y="2395800"/>
            <a:ext cx="1873800" cy="34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— </a:t>
            </a: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Code Llama-Instruct varyantı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168" name="Line 31"/>
          <p:cNvSpPr/>
          <p:nvPr/>
        </p:nvSpPr>
        <p:spPr>
          <a:xfrm>
            <a:off x="274320" y="3291840"/>
            <a:ext cx="8595360" cy="0"/>
          </a:xfrm>
          <a:prstGeom prst="line">
            <a:avLst/>
          </a:prstGeom>
          <a:ln w="1008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CustomShape 32"/>
          <p:cNvSpPr/>
          <p:nvPr/>
        </p:nvSpPr>
        <p:spPr>
          <a:xfrm>
            <a:off x="457200" y="3429000"/>
            <a:ext cx="201096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100" spc="-1" strike="noStrike">
                <a:solidFill>
                  <a:srgbClr val="1f3864"/>
                </a:solidFill>
                <a:latin typeface="Calibri"/>
                <a:ea typeface="Calibri"/>
              </a:rPr>
              <a:t>Temel hiperparametreler:  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170" name="CustomShape 33"/>
          <p:cNvSpPr/>
          <p:nvPr/>
        </p:nvSpPr>
        <p:spPr>
          <a:xfrm>
            <a:off x="2377440" y="3429000"/>
            <a:ext cx="649152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e293b"/>
                </a:solidFill>
                <a:latin typeface="Calibri"/>
                <a:ea typeface="Calibri"/>
              </a:rPr>
              <a:t>AdamW (β₁=0.9, β₂=0.95)  ·  Öğrenme oranı 7B: 3×10⁻⁴, 34B–70B: 1.5×10⁻⁴  ·  Batch: 4M token  ·  Cosine schedule, 1K ısınma adımı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171" name="CustomShape 34"/>
          <p:cNvSpPr/>
          <p:nvPr/>
        </p:nvSpPr>
        <p:spPr>
          <a:xfrm>
            <a:off x="457200" y="3794760"/>
            <a:ext cx="841176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e293b"/>
                </a:solidFill>
                <a:latin typeface="Calibri"/>
                <a:ea typeface="Calibri"/>
              </a:rPr>
              <a:t>3 varyant: Code Llama (temel)  ·  Code Llama-Python (Python özelleşmesi, ek 100B token)  ·  Code Llama-Instruct (instruction tuning)</a:t>
            </a:r>
            <a:endParaRPr b="0" lang="tr-TR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CustomShape 1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CustomShape 2"/>
          <p:cNvSpPr/>
          <p:nvPr/>
        </p:nvSpPr>
        <p:spPr>
          <a:xfrm>
            <a:off x="457200" y="164520"/>
            <a:ext cx="8228880" cy="59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2400" spc="-1" strike="noStrike">
                <a:solidFill>
                  <a:srgbClr val="1f3864"/>
                </a:solidFill>
                <a:latin typeface="Calibri"/>
                <a:ea typeface="Calibri"/>
              </a:rPr>
              <a:t>PEFT ile Erişilebilir Özelleştirme</a:t>
            </a:r>
            <a:endParaRPr b="0" lang="tr-TR" sz="2400" spc="-1" strike="noStrike">
              <a:latin typeface="Arial"/>
            </a:endParaRPr>
          </a:p>
        </p:txBody>
      </p:sp>
      <p:sp>
        <p:nvSpPr>
          <p:cNvPr id="174" name="CustomShape 3"/>
          <p:cNvSpPr/>
          <p:nvPr/>
        </p:nvSpPr>
        <p:spPr>
          <a:xfrm>
            <a:off x="457200" y="749880"/>
            <a:ext cx="8228880" cy="29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200" spc="-1" strike="noStrike">
                <a:solidFill>
                  <a:srgbClr val="6b7280"/>
                </a:solidFill>
                <a:latin typeface="Calibri"/>
                <a:ea typeface="Calibri"/>
              </a:rPr>
              <a:t>Weyssow vd. (2025) — LoRA, Code Llama üzerinde en başarılı teknik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175" name="Line 4"/>
          <p:cNvSpPr/>
          <p:nvPr/>
        </p:nvSpPr>
        <p:spPr>
          <a:xfrm>
            <a:off x="457200" y="1023840"/>
            <a:ext cx="8229600" cy="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CustomShape 5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CustomShape 6"/>
          <p:cNvSpPr/>
          <p:nvPr/>
        </p:nvSpPr>
        <p:spPr>
          <a:xfrm>
            <a:off x="365760" y="4937760"/>
            <a:ext cx="7314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900" spc="-1" strike="noStrike">
                <a:solidFill>
                  <a:srgbClr val="cadcfc"/>
                </a:solidFill>
                <a:latin typeface="Calibri"/>
                <a:ea typeface="Calibri"/>
              </a:rPr>
              <a:t>Kod Üretimi için LLM'ler — Code Llama Ekseninde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178" name="CustomShape 7"/>
          <p:cNvSpPr/>
          <p:nvPr/>
        </p:nvSpPr>
        <p:spPr>
          <a:xfrm>
            <a:off x="8503920" y="4937760"/>
            <a:ext cx="456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  <a:ea typeface="Calibri"/>
              </a:rPr>
              <a:t>7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179" name="CustomShape 8"/>
          <p:cNvSpPr/>
          <p:nvPr/>
        </p:nvSpPr>
        <p:spPr>
          <a:xfrm>
            <a:off x="457200" y="1143000"/>
            <a:ext cx="822888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50" spc="-1" strike="noStrike">
                <a:solidFill>
                  <a:srgbClr val="1e293b"/>
                </a:solidFill>
                <a:latin typeface="Calibri"/>
                <a:ea typeface="Calibri"/>
              </a:rPr>
              <a:t>Büyük modelleri özelleştirmenin önündeki engel hesaplama maliyeti. PEFT teknikleri bu engeli kısmen kaldırıyor.</a:t>
            </a:r>
            <a:endParaRPr b="0" lang="tr-TR" sz="1150" spc="-1" strike="noStrike">
              <a:latin typeface="Arial"/>
            </a:endParaRPr>
          </a:p>
        </p:txBody>
      </p:sp>
      <p:sp>
        <p:nvSpPr>
          <p:cNvPr id="180" name="CustomShape 9"/>
          <p:cNvSpPr/>
          <p:nvPr/>
        </p:nvSpPr>
        <p:spPr>
          <a:xfrm>
            <a:off x="457200" y="1645920"/>
            <a:ext cx="3931200" cy="45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1600" spc="-1" strike="noStrike">
                <a:solidFill>
                  <a:srgbClr val="1f3864"/>
                </a:solidFill>
                <a:latin typeface="Calibri"/>
                <a:ea typeface="Calibri"/>
              </a:rPr>
              <a:t>W = W₀ + ΔW = W₀ + BA</a:t>
            </a:r>
            <a:endParaRPr b="0" lang="tr-TR" sz="1600" spc="-1" strike="noStrike">
              <a:latin typeface="Arial"/>
            </a:endParaRPr>
          </a:p>
        </p:txBody>
      </p:sp>
      <p:sp>
        <p:nvSpPr>
          <p:cNvPr id="181" name="CustomShape 10"/>
          <p:cNvSpPr/>
          <p:nvPr/>
        </p:nvSpPr>
        <p:spPr>
          <a:xfrm>
            <a:off x="457200" y="2148840"/>
            <a:ext cx="3931200" cy="822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e293b"/>
                </a:solidFill>
                <a:latin typeface="Calibri"/>
                <a:ea typeface="Calibri"/>
              </a:rPr>
              <a:t>W₀: Dondurulmuş ön eğitim ağırlıkları</a:t>
            </a:r>
            <a:endParaRPr b="0" lang="tr-TR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e293b"/>
                </a:solidFill>
                <a:latin typeface="Calibri"/>
                <a:ea typeface="Calibri"/>
              </a:rPr>
              <a:t>B, A: Eğitilebilir düşük-rank matrisler</a:t>
            </a:r>
            <a:endParaRPr b="0" lang="tr-TR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e293b"/>
                </a:solidFill>
                <a:latin typeface="Calibri"/>
                <a:ea typeface="Calibri"/>
              </a:rPr>
              <a:t>Güncellenen parametreler: yalnızca %0,18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182" name="Line 11"/>
          <p:cNvSpPr/>
          <p:nvPr/>
        </p:nvSpPr>
        <p:spPr>
          <a:xfrm>
            <a:off x="4754880" y="1600200"/>
            <a:ext cx="0" cy="150876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CustomShape 12"/>
          <p:cNvSpPr/>
          <p:nvPr/>
        </p:nvSpPr>
        <p:spPr>
          <a:xfrm>
            <a:off x="4937760" y="1691640"/>
            <a:ext cx="109656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100" spc="-1" strike="noStrike">
                <a:solidFill>
                  <a:srgbClr val="1f3864"/>
                </a:solidFill>
                <a:latin typeface="Calibri"/>
                <a:ea typeface="Calibri"/>
              </a:rPr>
              <a:t>LoRA: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184" name="CustomShape 13"/>
          <p:cNvSpPr/>
          <p:nvPr/>
        </p:nvSpPr>
        <p:spPr>
          <a:xfrm>
            <a:off x="6126480" y="1691640"/>
            <a:ext cx="274248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e293b"/>
                </a:solidFill>
                <a:latin typeface="Calibri"/>
                <a:ea typeface="Calibri"/>
              </a:rPr>
              <a:t>Tam ince ayara yakın performans, bellek %80 az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185" name="CustomShape 14"/>
          <p:cNvSpPr/>
          <p:nvPr/>
        </p:nvSpPr>
        <p:spPr>
          <a:xfrm>
            <a:off x="4937760" y="2194560"/>
            <a:ext cx="109656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100" spc="-1" strike="noStrike">
                <a:solidFill>
                  <a:srgbClr val="1f3864"/>
                </a:solidFill>
                <a:latin typeface="Calibri"/>
                <a:ea typeface="Calibri"/>
              </a:rPr>
              <a:t>QLoRA: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186" name="CustomShape 15"/>
          <p:cNvSpPr/>
          <p:nvPr/>
        </p:nvSpPr>
        <p:spPr>
          <a:xfrm>
            <a:off x="6126480" y="2194560"/>
            <a:ext cx="274248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e293b"/>
                </a:solidFill>
                <a:latin typeface="Calibri"/>
                <a:ea typeface="Calibri"/>
              </a:rPr>
              <a:t>34B model tek 24 GB GPU'ya sığıyor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187" name="CustomShape 16"/>
          <p:cNvSpPr/>
          <p:nvPr/>
        </p:nvSpPr>
        <p:spPr>
          <a:xfrm>
            <a:off x="4937760" y="2697480"/>
            <a:ext cx="109656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100" spc="-1" strike="noStrike">
                <a:solidFill>
                  <a:srgbClr val="1f3864"/>
                </a:solidFill>
                <a:latin typeface="Calibri"/>
                <a:ea typeface="Calibri"/>
              </a:rPr>
              <a:t>Prefix/Prompt: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188" name="CustomShape 17"/>
          <p:cNvSpPr/>
          <p:nvPr/>
        </p:nvSpPr>
        <p:spPr>
          <a:xfrm>
            <a:off x="6126480" y="2697480"/>
            <a:ext cx="274248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e293b"/>
                </a:solidFill>
                <a:latin typeface="Calibri"/>
                <a:ea typeface="Calibri"/>
              </a:rPr>
              <a:t>Büyük modellerde başarısız, küçüklerde zayıf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189" name="Line 18"/>
          <p:cNvSpPr/>
          <p:nvPr/>
        </p:nvSpPr>
        <p:spPr>
          <a:xfrm>
            <a:off x="274320" y="3154680"/>
            <a:ext cx="8595360" cy="0"/>
          </a:xfrm>
          <a:prstGeom prst="line">
            <a:avLst/>
          </a:prstGeom>
          <a:ln w="1008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CustomShape 19"/>
          <p:cNvSpPr/>
          <p:nvPr/>
        </p:nvSpPr>
        <p:spPr>
          <a:xfrm>
            <a:off x="457200" y="3291840"/>
            <a:ext cx="8228880" cy="45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100" spc="-1" strike="noStrike">
                <a:solidFill>
                  <a:srgbClr val="1f3864"/>
                </a:solidFill>
                <a:latin typeface="Calibri"/>
                <a:ea typeface="Calibri"/>
              </a:rPr>
              <a:t>Sonuç: Büyük kod modellerini özelleştirmek artık yalnızca büyük kurumların değil, küçük araştırma gruplarının ve bireysel geliştiricilerin de erişebileceği bir süreç.</a:t>
            </a:r>
            <a:endParaRPr b="0" lang="tr-T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CustomShape 1"/>
          <p:cNvSpPr/>
          <p:nvPr/>
        </p:nvSpPr>
        <p:spPr>
          <a:xfrm>
            <a:off x="914400" y="1645920"/>
            <a:ext cx="7314480" cy="91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3600" spc="-1" strike="noStrike">
                <a:solidFill>
                  <a:srgbClr val="ffffff"/>
                </a:solidFill>
                <a:latin typeface="Calibri"/>
                <a:ea typeface="Calibri"/>
              </a:rPr>
              <a:t>Deney Tasarımı</a:t>
            </a:r>
            <a:endParaRPr b="0" lang="tr-TR" sz="3600" spc="-1" strike="noStrike">
              <a:latin typeface="Arial"/>
            </a:endParaRPr>
          </a:p>
        </p:txBody>
      </p:sp>
      <p:sp>
        <p:nvSpPr>
          <p:cNvPr id="192" name="CustomShape 2"/>
          <p:cNvSpPr/>
          <p:nvPr/>
        </p:nvSpPr>
        <p:spPr>
          <a:xfrm>
            <a:off x="914400" y="2651760"/>
            <a:ext cx="7314480" cy="45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tr-TR" sz="1400" spc="-1" strike="noStrike">
                <a:solidFill>
                  <a:srgbClr val="cadcfc"/>
                </a:solidFill>
                <a:latin typeface="Calibri"/>
                <a:ea typeface="Calibri"/>
              </a:rPr>
              <a:t>Veri setleri, benchmark'lar ve kontaminasyon sorunu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193" name="CustomShape 3"/>
          <p:cNvSpPr/>
          <p:nvPr/>
        </p:nvSpPr>
        <p:spPr>
          <a:xfrm>
            <a:off x="3200400" y="3200400"/>
            <a:ext cx="2742480" cy="54000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CustomShape 2"/>
          <p:cNvSpPr/>
          <p:nvPr/>
        </p:nvSpPr>
        <p:spPr>
          <a:xfrm>
            <a:off x="457200" y="164520"/>
            <a:ext cx="8228880" cy="59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2400" spc="-1" strike="noStrike">
                <a:solidFill>
                  <a:srgbClr val="1f3864"/>
                </a:solidFill>
                <a:latin typeface="Calibri"/>
                <a:ea typeface="Calibri"/>
              </a:rPr>
              <a:t>Veri Setleri ve Benchmark Tasarımı</a:t>
            </a:r>
            <a:endParaRPr b="0" lang="tr-TR" sz="2400" spc="-1" strike="noStrike">
              <a:latin typeface="Arial"/>
            </a:endParaRPr>
          </a:p>
        </p:txBody>
      </p:sp>
      <p:sp>
        <p:nvSpPr>
          <p:cNvPr id="196" name="CustomShape 3"/>
          <p:cNvSpPr/>
          <p:nvPr/>
        </p:nvSpPr>
        <p:spPr>
          <a:xfrm>
            <a:off x="457200" y="749880"/>
            <a:ext cx="8228880" cy="29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200" spc="-1" strike="noStrike">
                <a:solidFill>
                  <a:srgbClr val="6b7280"/>
                </a:solidFill>
                <a:latin typeface="Calibri"/>
                <a:ea typeface="Calibri"/>
              </a:rPr>
              <a:t>Eğitim verisi + değerlendirme protokolü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197" name="Line 4"/>
          <p:cNvSpPr/>
          <p:nvPr/>
        </p:nvSpPr>
        <p:spPr>
          <a:xfrm>
            <a:off x="457200" y="1023840"/>
            <a:ext cx="8229600" cy="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CustomShape 5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CustomShape 6"/>
          <p:cNvSpPr/>
          <p:nvPr/>
        </p:nvSpPr>
        <p:spPr>
          <a:xfrm>
            <a:off x="365760" y="4937760"/>
            <a:ext cx="7314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900" spc="-1" strike="noStrike">
                <a:solidFill>
                  <a:srgbClr val="cadcfc"/>
                </a:solidFill>
                <a:latin typeface="Calibri"/>
                <a:ea typeface="Calibri"/>
              </a:rPr>
              <a:t>Kod Üretimi için LLM'ler — Code Llama Ekseninde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200" name="CustomShape 7"/>
          <p:cNvSpPr/>
          <p:nvPr/>
        </p:nvSpPr>
        <p:spPr>
          <a:xfrm>
            <a:off x="8503920" y="4937760"/>
            <a:ext cx="456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  <a:ea typeface="Calibri"/>
              </a:rPr>
              <a:t>8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201" name="CustomShape 8"/>
          <p:cNvSpPr/>
          <p:nvPr/>
        </p:nvSpPr>
        <p:spPr>
          <a:xfrm>
            <a:off x="457200" y="1143000"/>
            <a:ext cx="3839760" cy="31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300" spc="-1" strike="noStrike">
                <a:solidFill>
                  <a:srgbClr val="1f3864"/>
                </a:solidFill>
                <a:latin typeface="Calibri"/>
                <a:ea typeface="Calibri"/>
              </a:rPr>
              <a:t>Eğitim Verisi</a:t>
            </a:r>
            <a:endParaRPr b="0" lang="tr-TR" sz="1300" spc="-1" strike="noStrike">
              <a:latin typeface="Arial"/>
            </a:endParaRPr>
          </a:p>
        </p:txBody>
      </p:sp>
      <p:graphicFrame>
        <p:nvGraphicFramePr>
          <p:cNvPr id="202" name="Table 9"/>
          <p:cNvGraphicFramePr/>
          <p:nvPr/>
        </p:nvGraphicFramePr>
        <p:xfrm>
          <a:off x="457200" y="1508760"/>
          <a:ext cx="3931560" cy="173664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554480"/>
              </a:tblGrid>
              <a:tr h="3474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Model</a:t>
                      </a:r>
                      <a:endParaRPr b="0" lang="tr-TR" sz="10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Veri Hacmi</a:t>
                      </a:r>
                      <a:endParaRPr b="0" lang="tr-TR" sz="10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Kaynak</a:t>
                      </a:r>
                      <a:endParaRPr b="0" lang="tr-TR" sz="10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</a:tr>
              <a:tr h="3474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Code Llama</a:t>
                      </a:r>
                      <a:endParaRPr b="0" lang="tr-TR" sz="10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500B–1T</a:t>
                      </a:r>
                      <a:endParaRPr b="0" lang="tr-TR" sz="10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GitHub (%85 kod)</a:t>
                      </a:r>
                      <a:endParaRPr b="0" lang="tr-TR" sz="10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</a:tr>
              <a:tr h="3474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DeepSeek-Coder</a:t>
                      </a:r>
                      <a:endParaRPr b="0" lang="tr-TR" sz="10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2T</a:t>
                      </a:r>
                      <a:endParaRPr b="0" lang="tr-TR" sz="10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87 programlama dili</a:t>
                      </a:r>
                      <a:endParaRPr b="0" lang="tr-TR" sz="10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</a:tr>
              <a:tr h="3474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Qwen2.5-Coder</a:t>
                      </a:r>
                      <a:endParaRPr b="0" lang="tr-TR" sz="10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5.5T</a:t>
                      </a:r>
                      <a:endParaRPr b="0" lang="tr-TR" sz="10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Kod + mat + genel metin</a:t>
                      </a:r>
                      <a:endParaRPr b="0" lang="tr-TR" sz="10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</a:tr>
              <a:tr h="3474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Llama 3</a:t>
                      </a:r>
                      <a:endParaRPr b="0" lang="tr-TR" sz="10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15T</a:t>
                      </a:r>
                      <a:endParaRPr b="0" lang="tr-TR" sz="10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Çok dilli, sentetik dahil</a:t>
                      </a:r>
                      <a:endParaRPr b="0" lang="tr-TR" sz="10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203" name="Line 10"/>
          <p:cNvSpPr/>
          <p:nvPr/>
        </p:nvSpPr>
        <p:spPr>
          <a:xfrm>
            <a:off x="4663440" y="1097280"/>
            <a:ext cx="0" cy="3200400"/>
          </a:xfrm>
          <a:prstGeom prst="line">
            <a:avLst/>
          </a:prstGeom>
          <a:ln w="1008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CustomShape 11"/>
          <p:cNvSpPr/>
          <p:nvPr/>
        </p:nvSpPr>
        <p:spPr>
          <a:xfrm>
            <a:off x="4846320" y="1143000"/>
            <a:ext cx="3931200" cy="31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300" spc="-1" strike="noStrike">
                <a:solidFill>
                  <a:srgbClr val="1f3864"/>
                </a:solidFill>
                <a:latin typeface="Calibri"/>
                <a:ea typeface="Calibri"/>
              </a:rPr>
              <a:t>Benchmark'lar ve Metrikler</a:t>
            </a:r>
            <a:endParaRPr b="0" lang="tr-TR" sz="1300" spc="-1" strike="noStrike">
              <a:latin typeface="Arial"/>
            </a:endParaRPr>
          </a:p>
        </p:txBody>
      </p:sp>
      <p:sp>
        <p:nvSpPr>
          <p:cNvPr id="205" name="CustomShape 12"/>
          <p:cNvSpPr/>
          <p:nvPr/>
        </p:nvSpPr>
        <p:spPr>
          <a:xfrm>
            <a:off x="4846320" y="1554480"/>
            <a:ext cx="164520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100" spc="-1" strike="noStrike">
                <a:solidFill>
                  <a:srgbClr val="0d9488"/>
                </a:solidFill>
                <a:latin typeface="Calibri"/>
                <a:ea typeface="Calibri"/>
              </a:rPr>
              <a:t>HumanEval: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206" name="CustomShape 13"/>
          <p:cNvSpPr/>
          <p:nvPr/>
        </p:nvSpPr>
        <p:spPr>
          <a:xfrm>
            <a:off x="4846320" y="1828800"/>
            <a:ext cx="4022640" cy="31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164 Python problemi · Sadece test seti · 0-shot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207" name="CustomShape 14"/>
          <p:cNvSpPr/>
          <p:nvPr/>
        </p:nvSpPr>
        <p:spPr>
          <a:xfrm>
            <a:off x="4846320" y="2240280"/>
            <a:ext cx="164520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100" spc="-1" strike="noStrike">
                <a:solidFill>
                  <a:srgbClr val="0d9488"/>
                </a:solidFill>
                <a:latin typeface="Calibri"/>
                <a:ea typeface="Calibri"/>
              </a:rPr>
              <a:t>MBPP: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208" name="CustomShape 15"/>
          <p:cNvSpPr/>
          <p:nvPr/>
        </p:nvSpPr>
        <p:spPr>
          <a:xfrm>
            <a:off x="4846320" y="2514600"/>
            <a:ext cx="4022640" cy="31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Eğitim: 374  /  Doğrulama: 90  /  Test: 500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209" name="CustomShape 16"/>
          <p:cNvSpPr/>
          <p:nvPr/>
        </p:nvSpPr>
        <p:spPr>
          <a:xfrm>
            <a:off x="4846320" y="2926080"/>
            <a:ext cx="164520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100" spc="-1" strike="noStrike">
                <a:solidFill>
                  <a:srgbClr val="0d9488"/>
                </a:solidFill>
                <a:latin typeface="Calibri"/>
                <a:ea typeface="Calibri"/>
              </a:rPr>
              <a:t>MultiPL-E: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210" name="CustomShape 17"/>
          <p:cNvSpPr/>
          <p:nvPr/>
        </p:nvSpPr>
        <p:spPr>
          <a:xfrm>
            <a:off x="4846320" y="3200400"/>
            <a:ext cx="4022640" cy="31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HumanEval + MBPP → 18 programlama dili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211" name="CustomShape 18"/>
          <p:cNvSpPr/>
          <p:nvPr/>
        </p:nvSpPr>
        <p:spPr>
          <a:xfrm>
            <a:off x="4846320" y="3611880"/>
            <a:ext cx="164520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100" spc="-1" strike="noStrike">
                <a:solidFill>
                  <a:srgbClr val="0d9488"/>
                </a:solidFill>
                <a:latin typeface="Calibri"/>
                <a:ea typeface="Calibri"/>
              </a:rPr>
              <a:t>LiveCodeBench: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212" name="CustomShape 19"/>
          <p:cNvSpPr/>
          <p:nvPr/>
        </p:nvSpPr>
        <p:spPr>
          <a:xfrm>
            <a:off x="4846320" y="3886200"/>
            <a:ext cx="4022640" cy="31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LeetCode/AtCoder · Tarih filtreli, kontaminasyon ↓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213" name="Line 20"/>
          <p:cNvSpPr/>
          <p:nvPr/>
        </p:nvSpPr>
        <p:spPr>
          <a:xfrm>
            <a:off x="274320" y="4160520"/>
            <a:ext cx="8595360" cy="0"/>
          </a:xfrm>
          <a:prstGeom prst="line">
            <a:avLst/>
          </a:prstGeom>
          <a:ln w="1008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CustomShape 21"/>
          <p:cNvSpPr/>
          <p:nvPr/>
        </p:nvSpPr>
        <p:spPr>
          <a:xfrm>
            <a:off x="457200" y="4279320"/>
            <a:ext cx="822888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6b7280"/>
                </a:solidFill>
                <a:latin typeface="Calibri"/>
                <a:ea typeface="Calibri"/>
              </a:rPr>
              <a:t>pass@k metriği:  n üretilen örnekten k tanesi seçildiğinde en az birinin birim testlerini geçme olasılığı. pass@1 = gerçekçi kullanım.</a:t>
            </a:r>
            <a:endParaRPr b="0" lang="tr-T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CustomShape 1"/>
          <p:cNvSpPr/>
          <p:nvPr/>
        </p:nvSpPr>
        <p:spPr>
          <a:xfrm>
            <a:off x="914400" y="1645920"/>
            <a:ext cx="7314480" cy="91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3600" spc="-1" strike="noStrike">
                <a:solidFill>
                  <a:srgbClr val="ffffff"/>
                </a:solidFill>
                <a:latin typeface="Calibri"/>
                <a:ea typeface="Calibri"/>
              </a:rPr>
              <a:t>Sonuçlar</a:t>
            </a:r>
            <a:endParaRPr b="0" lang="tr-TR" sz="3600" spc="-1" strike="noStrike">
              <a:latin typeface="Arial"/>
            </a:endParaRPr>
          </a:p>
        </p:txBody>
      </p:sp>
      <p:sp>
        <p:nvSpPr>
          <p:cNvPr id="216" name="CustomShape 2"/>
          <p:cNvSpPr/>
          <p:nvPr/>
        </p:nvSpPr>
        <p:spPr>
          <a:xfrm>
            <a:off x="914400" y="2651760"/>
            <a:ext cx="7314480" cy="45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tr-TR" sz="1400" spc="-1" strike="noStrike">
                <a:solidFill>
                  <a:srgbClr val="cadcfc"/>
                </a:solidFill>
                <a:latin typeface="Calibri"/>
                <a:ea typeface="Calibri"/>
              </a:rPr>
              <a:t>HumanEval, çok dilli değerlendirme ve 2025 tablosu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217" name="CustomShape 3"/>
          <p:cNvSpPr/>
          <p:nvPr/>
        </p:nvSpPr>
        <p:spPr>
          <a:xfrm>
            <a:off x="3200400" y="3200400"/>
            <a:ext cx="2742480" cy="54000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CustomShape 1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CustomShape 2"/>
          <p:cNvSpPr/>
          <p:nvPr/>
        </p:nvSpPr>
        <p:spPr>
          <a:xfrm>
            <a:off x="457200" y="164520"/>
            <a:ext cx="8228880" cy="59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2400" spc="-1" strike="noStrike">
                <a:solidFill>
                  <a:srgbClr val="1f3864"/>
                </a:solidFill>
                <a:latin typeface="Calibri"/>
                <a:ea typeface="Calibri"/>
              </a:rPr>
              <a:t>HumanEval pass@1 — Zaman İçinde Evrim</a:t>
            </a:r>
            <a:endParaRPr b="0" lang="tr-TR" sz="2400" spc="-1" strike="noStrike">
              <a:latin typeface="Arial"/>
            </a:endParaRPr>
          </a:p>
        </p:txBody>
      </p:sp>
      <p:sp>
        <p:nvSpPr>
          <p:cNvPr id="220" name="CustomShape 3"/>
          <p:cNvSpPr/>
          <p:nvPr/>
        </p:nvSpPr>
        <p:spPr>
          <a:xfrm>
            <a:off x="457200" y="749880"/>
            <a:ext cx="8228880" cy="29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200" spc="-1" strike="noStrike">
                <a:solidFill>
                  <a:srgbClr val="6b7280"/>
                </a:solidFill>
                <a:latin typeface="Calibri"/>
                <a:ea typeface="Calibri"/>
              </a:rPr>
              <a:t>Tablo 2. Modellerin Python kod üretimi başarısı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221" name="Line 4"/>
          <p:cNvSpPr/>
          <p:nvPr/>
        </p:nvSpPr>
        <p:spPr>
          <a:xfrm>
            <a:off x="457200" y="1023840"/>
            <a:ext cx="8229600" cy="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CustomShape 5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CustomShape 6"/>
          <p:cNvSpPr/>
          <p:nvPr/>
        </p:nvSpPr>
        <p:spPr>
          <a:xfrm>
            <a:off x="365760" y="4937760"/>
            <a:ext cx="7314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900" spc="-1" strike="noStrike">
                <a:solidFill>
                  <a:srgbClr val="cadcfc"/>
                </a:solidFill>
                <a:latin typeface="Calibri"/>
                <a:ea typeface="Calibri"/>
              </a:rPr>
              <a:t>Kod Üretimi için LLM'ler — Code Llama Ekseninde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224" name="CustomShape 7"/>
          <p:cNvSpPr/>
          <p:nvPr/>
        </p:nvSpPr>
        <p:spPr>
          <a:xfrm>
            <a:off x="8503920" y="4937760"/>
            <a:ext cx="456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  <a:ea typeface="Calibri"/>
              </a:rPr>
              <a:t>9</a:t>
            </a:r>
            <a:endParaRPr b="0" lang="tr-TR" sz="900" spc="-1" strike="noStrike">
              <a:latin typeface="Arial"/>
            </a:endParaRPr>
          </a:p>
        </p:txBody>
      </p:sp>
      <p:graphicFrame>
        <p:nvGraphicFramePr>
          <p:cNvPr id="225" name="Chart 0"/>
          <p:cNvGraphicFramePr/>
          <p:nvPr/>
        </p:nvGraphicFramePr>
        <p:xfrm>
          <a:off x="274320" y="1097280"/>
          <a:ext cx="8594640" cy="3519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6" name="CustomShape 8"/>
          <p:cNvSpPr/>
          <p:nvPr/>
        </p:nvSpPr>
        <p:spPr>
          <a:xfrm>
            <a:off x="457200" y="4663440"/>
            <a:ext cx="822888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1000" spc="-1" strike="noStrike">
                <a:solidFill>
                  <a:srgbClr val="0d9488"/>
                </a:solidFill>
                <a:latin typeface="Calibri"/>
                <a:ea typeface="Calibri"/>
              </a:rPr>
              <a:t>★  </a:t>
            </a:r>
            <a:r>
              <a:rPr b="1" lang="tr-TR" sz="1000" spc="-1" strike="noStrike">
                <a:solidFill>
                  <a:srgbClr val="0d9488"/>
                </a:solidFill>
                <a:latin typeface="Calibri"/>
                <a:ea typeface="Calibri"/>
              </a:rPr>
              <a:t>Code Llama'dan Llama 3'e: %30,5 → %89,0  ·  Qwen2.5-Coder 7B bile pek çok 70B modeli geçiyor</a:t>
            </a:r>
            <a:endParaRPr b="0" lang="tr-T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CustomShape 1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CustomShape 2"/>
          <p:cNvSpPr/>
          <p:nvPr/>
        </p:nvSpPr>
        <p:spPr>
          <a:xfrm>
            <a:off x="457200" y="164520"/>
            <a:ext cx="8228880" cy="59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2400" spc="-1" strike="noStrike">
                <a:solidFill>
                  <a:srgbClr val="1f3864"/>
                </a:solidFill>
                <a:latin typeface="Calibri"/>
                <a:ea typeface="Calibri"/>
              </a:rPr>
              <a:t>MultiPL-E — Çok Dilli Değerlendirme</a:t>
            </a:r>
            <a:endParaRPr b="0" lang="tr-TR" sz="2400" spc="-1" strike="noStrike">
              <a:latin typeface="Arial"/>
            </a:endParaRPr>
          </a:p>
        </p:txBody>
      </p:sp>
      <p:sp>
        <p:nvSpPr>
          <p:cNvPr id="229" name="CustomShape 3"/>
          <p:cNvSpPr/>
          <p:nvPr/>
        </p:nvSpPr>
        <p:spPr>
          <a:xfrm>
            <a:off x="457200" y="749880"/>
            <a:ext cx="8228880" cy="29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200" spc="-1" strike="noStrike">
                <a:solidFill>
                  <a:srgbClr val="6b7280"/>
                </a:solidFill>
                <a:latin typeface="Calibri"/>
                <a:ea typeface="Calibri"/>
              </a:rPr>
              <a:t>Tablo 3. Code Llama modellerinin 5 programlama dilindeki pass@1 sonuçları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230" name="Line 4"/>
          <p:cNvSpPr/>
          <p:nvPr/>
        </p:nvSpPr>
        <p:spPr>
          <a:xfrm>
            <a:off x="457200" y="1023840"/>
            <a:ext cx="8229600" cy="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CustomShape 5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CustomShape 6"/>
          <p:cNvSpPr/>
          <p:nvPr/>
        </p:nvSpPr>
        <p:spPr>
          <a:xfrm>
            <a:off x="365760" y="4937760"/>
            <a:ext cx="7314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900" spc="-1" strike="noStrike">
                <a:solidFill>
                  <a:srgbClr val="cadcfc"/>
                </a:solidFill>
                <a:latin typeface="Calibri"/>
                <a:ea typeface="Calibri"/>
              </a:rPr>
              <a:t>Kod Üretimi için LLM'ler — Code Llama Ekseninde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233" name="CustomShape 7"/>
          <p:cNvSpPr/>
          <p:nvPr/>
        </p:nvSpPr>
        <p:spPr>
          <a:xfrm>
            <a:off x="8503920" y="4937760"/>
            <a:ext cx="456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  <a:ea typeface="Calibri"/>
              </a:rPr>
              <a:t>10</a:t>
            </a:r>
            <a:endParaRPr b="0" lang="tr-TR" sz="900" spc="-1" strike="noStrike">
              <a:latin typeface="Arial"/>
            </a:endParaRPr>
          </a:p>
        </p:txBody>
      </p:sp>
      <p:graphicFrame>
        <p:nvGraphicFramePr>
          <p:cNvPr id="234" name="Table 8"/>
          <p:cNvGraphicFramePr/>
          <p:nvPr/>
        </p:nvGraphicFramePr>
        <p:xfrm>
          <a:off x="457200" y="1143000"/>
          <a:ext cx="8229240" cy="320004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005840"/>
                <a:gridCol w="1188720"/>
                <a:gridCol w="1005840"/>
                <a:gridCol w="1005840"/>
                <a:gridCol w="1005840"/>
              </a:tblGrid>
              <a:tr h="4572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tr-TR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Model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tr-TR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C++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tr-TR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Java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tr-TR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TypeScript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tr-TR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PHP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tr-TR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Bash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tr-TR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Ort.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Llama 2-70B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%30,4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%31,6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%15,1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%34,2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%8,9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%24,8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StarCoder 15.5B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%30,6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%28,5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%32,2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%26,8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%11,0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%25,0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891b2"/>
                          </a:solidFill>
                          <a:latin typeface="Calibri"/>
                          <a:ea typeface="Calibri"/>
                        </a:rPr>
                        <a:t>Code Llama 7B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%34,2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%34,2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%33,3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%24,2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%12,0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%26,3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891b2"/>
                          </a:solidFill>
                          <a:latin typeface="Calibri"/>
                          <a:ea typeface="Calibri"/>
                        </a:rPr>
                        <a:t>Code Llama 34B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%47,8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%45,6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%33,3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%44,1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%17,1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%36,4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tr-TR" sz="1100" spc="-1" strike="noStrike">
                          <a:solidFill>
                            <a:srgbClr val="0d9488"/>
                          </a:solidFill>
                          <a:latin typeface="Calibri"/>
                          <a:ea typeface="Calibri"/>
                        </a:rPr>
                        <a:t>Code Llama 70B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%51,9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%50,9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%38,0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%49,1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%29,1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%45,3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tr-TR" sz="1100" spc="-1" strike="noStrike">
                          <a:solidFill>
                            <a:srgbClr val="0d9488"/>
                          </a:solidFill>
                          <a:latin typeface="Calibri"/>
                          <a:ea typeface="Calibri"/>
                        </a:rPr>
                        <a:t>CL-Instruct 70B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%58,2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%58,4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%36,7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%39,0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%29,7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tr-TR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%45,9</a:t>
                      </a:r>
                      <a:endParaRPr b="0" lang="tr-TR" sz="11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e5e7eb"/>
                      </a:solidFill>
                    </a:lnL>
                    <a:lnR w="6480">
                      <a:solidFill>
                        <a:srgbClr val="e5e7eb"/>
                      </a:solidFill>
                    </a:lnR>
                    <a:lnT w="6480">
                      <a:solidFill>
                        <a:srgbClr val="e5e7eb"/>
                      </a:solidFill>
                    </a:lnT>
                    <a:lnB w="6480">
                      <a:solidFill>
                        <a:srgbClr val="e5e7eb"/>
                      </a:solidFill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235" name="CustomShape 9"/>
          <p:cNvSpPr/>
          <p:nvPr/>
        </p:nvSpPr>
        <p:spPr>
          <a:xfrm>
            <a:off x="457200" y="4526280"/>
            <a:ext cx="182808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100" spc="-1" strike="noStrike">
                <a:solidFill>
                  <a:srgbClr val="1f3864"/>
                </a:solidFill>
                <a:latin typeface="Calibri"/>
                <a:ea typeface="Calibri"/>
              </a:rPr>
              <a:t>Öne çıkan bulgular:  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236" name="CustomShape 10"/>
          <p:cNvSpPr/>
          <p:nvPr/>
        </p:nvSpPr>
        <p:spPr>
          <a:xfrm>
            <a:off x="2194560" y="4526280"/>
            <a:ext cx="649152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e293b"/>
                </a:solidFill>
                <a:latin typeface="Calibri"/>
                <a:ea typeface="Calibri"/>
              </a:rPr>
              <a:t>Code Llama 7B, Llama 2-70B'yi tüm dillerde geride bırakıyor  ·  Bash en zor dil (%8-30)  ·  Parametre büyüdükçe çok dilli kapsam artıyor</a:t>
            </a:r>
            <a:endParaRPr b="0" lang="tr-TR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CustomShape 1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CustomShape 2"/>
          <p:cNvSpPr/>
          <p:nvPr/>
        </p:nvSpPr>
        <p:spPr>
          <a:xfrm>
            <a:off x="457200" y="164520"/>
            <a:ext cx="8228880" cy="59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2400" spc="-1" strike="noStrike">
                <a:solidFill>
                  <a:srgbClr val="1f3864"/>
                </a:solidFill>
                <a:latin typeface="Calibri"/>
                <a:ea typeface="Calibri"/>
              </a:rPr>
              <a:t>2025 İtibarıyla Günümüz</a:t>
            </a:r>
            <a:endParaRPr b="0" lang="tr-TR" sz="2400" spc="-1" strike="noStrike">
              <a:latin typeface="Arial"/>
            </a:endParaRPr>
          </a:p>
        </p:txBody>
      </p:sp>
      <p:sp>
        <p:nvSpPr>
          <p:cNvPr id="239" name="CustomShape 3"/>
          <p:cNvSpPr/>
          <p:nvPr/>
        </p:nvSpPr>
        <p:spPr>
          <a:xfrm>
            <a:off x="457200" y="749880"/>
            <a:ext cx="8228880" cy="29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200" spc="-1" strike="noStrike">
                <a:solidFill>
                  <a:srgbClr val="6b7280"/>
                </a:solidFill>
                <a:latin typeface="Calibri"/>
                <a:ea typeface="Calibri"/>
              </a:rPr>
              <a:t>Piyasa olgunlaştı — ajan sistemleri öne çıkıyor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240" name="Line 4"/>
          <p:cNvSpPr/>
          <p:nvPr/>
        </p:nvSpPr>
        <p:spPr>
          <a:xfrm>
            <a:off x="457200" y="1023840"/>
            <a:ext cx="8229600" cy="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CustomShape 5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CustomShape 6"/>
          <p:cNvSpPr/>
          <p:nvPr/>
        </p:nvSpPr>
        <p:spPr>
          <a:xfrm>
            <a:off x="365760" y="4937760"/>
            <a:ext cx="7314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900" spc="-1" strike="noStrike">
                <a:solidFill>
                  <a:srgbClr val="cadcfc"/>
                </a:solidFill>
                <a:latin typeface="Calibri"/>
                <a:ea typeface="Calibri"/>
              </a:rPr>
              <a:t>Kod Üretimi için LLM'ler — Code Llama Ekseninde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243" name="CustomShape 7"/>
          <p:cNvSpPr/>
          <p:nvPr/>
        </p:nvSpPr>
        <p:spPr>
          <a:xfrm>
            <a:off x="8503920" y="4937760"/>
            <a:ext cx="456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  <a:ea typeface="Calibri"/>
              </a:rPr>
              <a:t>11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244" name="CustomShape 8"/>
          <p:cNvSpPr/>
          <p:nvPr/>
        </p:nvSpPr>
        <p:spPr>
          <a:xfrm>
            <a:off x="457200" y="1143000"/>
            <a:ext cx="3656880" cy="31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300" spc="-1" strike="noStrike">
                <a:solidFill>
                  <a:srgbClr val="1f3864"/>
                </a:solidFill>
                <a:latin typeface="Calibri"/>
                <a:ea typeface="Calibri"/>
              </a:rPr>
              <a:t>Araç ekosistemi</a:t>
            </a:r>
            <a:endParaRPr b="0" lang="tr-TR" sz="1300" spc="-1" strike="noStrike">
              <a:latin typeface="Arial"/>
            </a:endParaRPr>
          </a:p>
        </p:txBody>
      </p:sp>
      <p:sp>
        <p:nvSpPr>
          <p:cNvPr id="245" name="CustomShape 9"/>
          <p:cNvSpPr/>
          <p:nvPr/>
        </p:nvSpPr>
        <p:spPr>
          <a:xfrm>
            <a:off x="457200" y="1536120"/>
            <a:ext cx="182808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100" spc="-1" strike="noStrike">
                <a:solidFill>
                  <a:srgbClr val="0d9488"/>
                </a:solidFill>
                <a:latin typeface="Calibri"/>
                <a:ea typeface="Calibri"/>
              </a:rPr>
              <a:t>GitHub Copilot: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246" name="CustomShape 10"/>
          <p:cNvSpPr/>
          <p:nvPr/>
        </p:nvSpPr>
        <p:spPr>
          <a:xfrm>
            <a:off x="2286000" y="1536120"/>
            <a:ext cx="201096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e293b"/>
                </a:solidFill>
                <a:latin typeface="Calibri"/>
                <a:ea typeface="Calibri"/>
              </a:rPr>
              <a:t>20M+ kullanıcı, Fortune 100'ün %90'ı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247" name="CustomShape 11"/>
          <p:cNvSpPr/>
          <p:nvPr/>
        </p:nvSpPr>
        <p:spPr>
          <a:xfrm>
            <a:off x="457200" y="2130480"/>
            <a:ext cx="182808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100" spc="-1" strike="noStrike">
                <a:solidFill>
                  <a:srgbClr val="0d9488"/>
                </a:solidFill>
                <a:latin typeface="Calibri"/>
                <a:ea typeface="Calibri"/>
              </a:rPr>
              <a:t>Cursor: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248" name="CustomShape 12"/>
          <p:cNvSpPr/>
          <p:nvPr/>
        </p:nvSpPr>
        <p:spPr>
          <a:xfrm>
            <a:off x="2286000" y="2130480"/>
            <a:ext cx="201096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e293b"/>
                </a:solidFill>
                <a:latin typeface="Calibri"/>
                <a:ea typeface="Calibri"/>
              </a:rPr>
              <a:t>500M$+ yıllık gelir, %85 benimseme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249" name="CustomShape 13"/>
          <p:cNvSpPr/>
          <p:nvPr/>
        </p:nvSpPr>
        <p:spPr>
          <a:xfrm>
            <a:off x="457200" y="2724840"/>
            <a:ext cx="182808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100" spc="-1" strike="noStrike">
                <a:solidFill>
                  <a:srgbClr val="0d9488"/>
                </a:solidFill>
                <a:latin typeface="Calibri"/>
                <a:ea typeface="Calibri"/>
              </a:rPr>
              <a:t>Amazon Q: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250" name="CustomShape 14"/>
          <p:cNvSpPr/>
          <p:nvPr/>
        </p:nvSpPr>
        <p:spPr>
          <a:xfrm>
            <a:off x="2286000" y="2724840"/>
            <a:ext cx="201096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e293b"/>
                </a:solidFill>
                <a:latin typeface="Calibri"/>
                <a:ea typeface="Calibri"/>
              </a:rPr>
              <a:t>AWS ekosisteminde entegre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251" name="CustomShape 15"/>
          <p:cNvSpPr/>
          <p:nvPr/>
        </p:nvSpPr>
        <p:spPr>
          <a:xfrm>
            <a:off x="457200" y="3383280"/>
            <a:ext cx="3931200" cy="45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6b7280"/>
                </a:solidFill>
                <a:latin typeface="Calibri"/>
                <a:ea typeface="Calibri"/>
              </a:rPr>
              <a:t>Geliştirici verimliliği: GitHub &amp; Accenture (4.800 geliştirici) — Copilot ile görevler %55 daha hızlı tamamlanıyor (Ziegler vd., 2022).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252" name="Line 16"/>
          <p:cNvSpPr/>
          <p:nvPr/>
        </p:nvSpPr>
        <p:spPr>
          <a:xfrm>
            <a:off x="4663440" y="1097280"/>
            <a:ext cx="0" cy="3200400"/>
          </a:xfrm>
          <a:prstGeom prst="line">
            <a:avLst/>
          </a:prstGeom>
          <a:ln w="1008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CustomShape 17"/>
          <p:cNvSpPr/>
          <p:nvPr/>
        </p:nvSpPr>
        <p:spPr>
          <a:xfrm>
            <a:off x="4846320" y="1143000"/>
            <a:ext cx="3931200" cy="31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300" spc="-1" strike="noStrike">
                <a:solidFill>
                  <a:srgbClr val="1f3864"/>
                </a:solidFill>
                <a:latin typeface="Calibri"/>
                <a:ea typeface="Calibri"/>
              </a:rPr>
              <a:t>SWE-bench: Ajan evrimi</a:t>
            </a:r>
            <a:endParaRPr b="0" lang="tr-TR" sz="1300" spc="-1" strike="noStrike">
              <a:latin typeface="Arial"/>
            </a:endParaRPr>
          </a:p>
        </p:txBody>
      </p:sp>
      <p:graphicFrame>
        <p:nvGraphicFramePr>
          <p:cNvPr id="254" name="Chart 0"/>
          <p:cNvGraphicFramePr/>
          <p:nvPr/>
        </p:nvGraphicFramePr>
        <p:xfrm>
          <a:off x="4754880" y="1508760"/>
          <a:ext cx="4114080" cy="2605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5" name="CustomShape 18"/>
          <p:cNvSpPr/>
          <p:nvPr/>
        </p:nvSpPr>
        <p:spPr>
          <a:xfrm>
            <a:off x="4846320" y="4160520"/>
            <a:ext cx="4022640" cy="22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900" spc="-1" strike="noStrike">
                <a:solidFill>
                  <a:srgbClr val="6b7280"/>
                </a:solidFill>
                <a:latin typeface="Calibri"/>
                <a:ea typeface="Calibri"/>
              </a:rPr>
              <a:t>Jimenez vd., 2024 · Gerçek GitHub issue'larını çözme başarısı</a:t>
            </a:r>
            <a:endParaRPr b="0" lang="tr-TR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CustomShape 1"/>
          <p:cNvSpPr/>
          <p:nvPr/>
        </p:nvSpPr>
        <p:spPr>
          <a:xfrm>
            <a:off x="914400" y="1645920"/>
            <a:ext cx="7314480" cy="91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3600" spc="-1" strike="noStrike">
                <a:solidFill>
                  <a:srgbClr val="ffffff"/>
                </a:solidFill>
                <a:latin typeface="Calibri"/>
                <a:ea typeface="Calibri"/>
              </a:rPr>
              <a:t>Gelecek Çalışmalar</a:t>
            </a:r>
            <a:endParaRPr b="0" lang="tr-TR" sz="3600" spc="-1" strike="noStrike">
              <a:latin typeface="Arial"/>
            </a:endParaRPr>
          </a:p>
        </p:txBody>
      </p:sp>
      <p:sp>
        <p:nvSpPr>
          <p:cNvPr id="257" name="CustomShape 2"/>
          <p:cNvSpPr/>
          <p:nvPr/>
        </p:nvSpPr>
        <p:spPr>
          <a:xfrm>
            <a:off x="914400" y="2651760"/>
            <a:ext cx="7314480" cy="45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tr-TR" sz="1400" spc="-1" strike="noStrike">
                <a:solidFill>
                  <a:srgbClr val="cadcfc"/>
                </a:solidFill>
                <a:latin typeface="Calibri"/>
                <a:ea typeface="Calibri"/>
              </a:rPr>
              <a:t>Alanın önündeki açık araştırma soruları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258" name="CustomShape 3"/>
          <p:cNvSpPr/>
          <p:nvPr/>
        </p:nvSpPr>
        <p:spPr>
          <a:xfrm>
            <a:off x="3200400" y="3200400"/>
            <a:ext cx="2742480" cy="54000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CustomShape 1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CustomShape 2"/>
          <p:cNvSpPr/>
          <p:nvPr/>
        </p:nvSpPr>
        <p:spPr>
          <a:xfrm>
            <a:off x="457200" y="164520"/>
            <a:ext cx="8228880" cy="59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2400" spc="-1" strike="noStrike">
                <a:solidFill>
                  <a:srgbClr val="1f3864"/>
                </a:solidFill>
                <a:latin typeface="Calibri"/>
                <a:ea typeface="Calibri"/>
              </a:rPr>
              <a:t>Gözlemlenen Alan Trendleri</a:t>
            </a:r>
            <a:endParaRPr b="0" lang="tr-TR" sz="2400" spc="-1" strike="noStrike">
              <a:latin typeface="Arial"/>
            </a:endParaRPr>
          </a:p>
        </p:txBody>
      </p:sp>
      <p:sp>
        <p:nvSpPr>
          <p:cNvPr id="261" name="CustomShape 3"/>
          <p:cNvSpPr/>
          <p:nvPr/>
        </p:nvSpPr>
        <p:spPr>
          <a:xfrm>
            <a:off x="457200" y="749880"/>
            <a:ext cx="8228880" cy="29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200" spc="-1" strike="noStrike">
                <a:solidFill>
                  <a:srgbClr val="6b7280"/>
                </a:solidFill>
                <a:latin typeface="Calibri"/>
                <a:ea typeface="Calibri"/>
              </a:rPr>
              <a:t>2021–2025 arasında 4 belirgin eğilim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262" name="Line 4"/>
          <p:cNvSpPr/>
          <p:nvPr/>
        </p:nvSpPr>
        <p:spPr>
          <a:xfrm>
            <a:off x="457200" y="1023840"/>
            <a:ext cx="8229600" cy="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CustomShape 5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CustomShape 6"/>
          <p:cNvSpPr/>
          <p:nvPr/>
        </p:nvSpPr>
        <p:spPr>
          <a:xfrm>
            <a:off x="365760" y="4937760"/>
            <a:ext cx="7314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900" spc="-1" strike="noStrike">
                <a:solidFill>
                  <a:srgbClr val="cadcfc"/>
                </a:solidFill>
                <a:latin typeface="Calibri"/>
                <a:ea typeface="Calibri"/>
              </a:rPr>
              <a:t>Kod Üretimi için LLM'ler — Code Llama Ekseninde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265" name="CustomShape 7"/>
          <p:cNvSpPr/>
          <p:nvPr/>
        </p:nvSpPr>
        <p:spPr>
          <a:xfrm>
            <a:off x="8503920" y="4937760"/>
            <a:ext cx="456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  <a:ea typeface="Calibri"/>
              </a:rPr>
              <a:t>12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266" name="CustomShape 8"/>
          <p:cNvSpPr/>
          <p:nvPr/>
        </p:nvSpPr>
        <p:spPr>
          <a:xfrm>
            <a:off x="365760" y="1234440"/>
            <a:ext cx="365040" cy="365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267" name="CustomShape 9"/>
          <p:cNvSpPr/>
          <p:nvPr/>
        </p:nvSpPr>
        <p:spPr>
          <a:xfrm>
            <a:off x="868680" y="1188720"/>
            <a:ext cx="795456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200" spc="-1" strike="noStrike">
                <a:solidFill>
                  <a:srgbClr val="1f3864"/>
                </a:solidFill>
                <a:latin typeface="Calibri"/>
                <a:ea typeface="Calibri"/>
              </a:rPr>
              <a:t>Veri kalitesi, parametre sayısını ikame ediyor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268" name="CustomShape 10"/>
          <p:cNvSpPr/>
          <p:nvPr/>
        </p:nvSpPr>
        <p:spPr>
          <a:xfrm>
            <a:off x="868680" y="1463040"/>
            <a:ext cx="7954560" cy="45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e293b"/>
                </a:solidFill>
                <a:latin typeface="Calibri"/>
                <a:ea typeface="Calibri"/>
              </a:rPr>
              <a:t>DeepSeek-Coder 6,7B ≈ Code Llama 34B. Qwen2.5-Coder 7B pek çok 70B modeli geçiyor. Repo-level eğitim ve dikkatli kürasyon, kaba token sayısından daha belirleyici hale geldi.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269" name="CustomShape 11"/>
          <p:cNvSpPr/>
          <p:nvPr/>
        </p:nvSpPr>
        <p:spPr>
          <a:xfrm>
            <a:off x="365760" y="2148840"/>
            <a:ext cx="365040" cy="3650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270" name="CustomShape 12"/>
          <p:cNvSpPr/>
          <p:nvPr/>
        </p:nvSpPr>
        <p:spPr>
          <a:xfrm>
            <a:off x="868680" y="2103120"/>
            <a:ext cx="795456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200" spc="-1" strike="noStrike">
                <a:solidFill>
                  <a:srgbClr val="2e5090"/>
                </a:solidFill>
                <a:latin typeface="Calibri"/>
                <a:ea typeface="Calibri"/>
              </a:rPr>
              <a:t>Açık–kapalı kaynak farkı HumanEval'de kapandı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271" name="CustomShape 13"/>
          <p:cNvSpPr/>
          <p:nvPr/>
        </p:nvSpPr>
        <p:spPr>
          <a:xfrm>
            <a:off x="868680" y="2377440"/>
            <a:ext cx="7954560" cy="45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e293b"/>
                </a:solidFill>
                <a:latin typeface="Calibri"/>
                <a:ea typeface="Calibri"/>
              </a:rPr>
              <a:t>2021'de Codex ile açık modeller arasında dağlar vardı. 2024 itibarıyla Qwen2.5-Coder-32B GPT-4o ile rekabet edebiliyor. Asıl fark artık SWE-bench gibi depo düzeyi testlerde görülüyor.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272" name="CustomShape 14"/>
          <p:cNvSpPr/>
          <p:nvPr/>
        </p:nvSpPr>
        <p:spPr>
          <a:xfrm>
            <a:off x="365760" y="3063240"/>
            <a:ext cx="365040" cy="365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273" name="CustomShape 15"/>
          <p:cNvSpPr/>
          <p:nvPr/>
        </p:nvSpPr>
        <p:spPr>
          <a:xfrm>
            <a:off x="868680" y="3017520"/>
            <a:ext cx="795456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200" spc="-1" strike="noStrike">
                <a:solidFill>
                  <a:srgbClr val="0d9488"/>
                </a:solidFill>
                <a:latin typeface="Calibri"/>
                <a:ea typeface="Calibri"/>
              </a:rPr>
              <a:t>Bağlam uzunluğu kritik rekabet alanına döndü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274" name="CustomShape 16"/>
          <p:cNvSpPr/>
          <p:nvPr/>
        </p:nvSpPr>
        <p:spPr>
          <a:xfrm>
            <a:off x="868680" y="3291840"/>
            <a:ext cx="7954560" cy="45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e293b"/>
                </a:solidFill>
                <a:latin typeface="Calibri"/>
                <a:ea typeface="Calibri"/>
              </a:rPr>
              <a:t>Code Llama ile 100K token standart oldu. StarCoder'ın 8K tavanı kısa sürede eskidi. Büyük kod tabanlarında çalışmak için uzun bağlam artık zorunlu.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275" name="CustomShape 17"/>
          <p:cNvSpPr/>
          <p:nvPr/>
        </p:nvSpPr>
        <p:spPr>
          <a:xfrm>
            <a:off x="365760" y="3977640"/>
            <a:ext cx="365040" cy="365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276" name="CustomShape 18"/>
          <p:cNvSpPr/>
          <p:nvPr/>
        </p:nvSpPr>
        <p:spPr>
          <a:xfrm>
            <a:off x="868680" y="3931920"/>
            <a:ext cx="795456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200" spc="-1" strike="noStrike">
                <a:solidFill>
                  <a:srgbClr val="0891b2"/>
                </a:solidFill>
                <a:latin typeface="Calibri"/>
                <a:ea typeface="Calibri"/>
              </a:rPr>
              <a:t>HumanEval doygunluğa yaklaştı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277" name="CustomShape 19"/>
          <p:cNvSpPr/>
          <p:nvPr/>
        </p:nvSpPr>
        <p:spPr>
          <a:xfrm>
            <a:off x="868680" y="4206240"/>
            <a:ext cx="7954560" cy="45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e293b"/>
                </a:solidFill>
                <a:latin typeface="Calibri"/>
                <a:ea typeface="Calibri"/>
              </a:rPr>
              <a:t>Qwen2.5-Coder-32B %92,7 ile neredeyse tavan yaptı. SWE-bench ve LiveCodeBench yeni standart benchmarklar olarak öne çıkıyor. Gerçek dünya görevleri ölçümü kaçınılmaz.</a:t>
            </a:r>
            <a:endParaRPr b="0" lang="tr-TR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CustomShape 1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CustomShape 2"/>
          <p:cNvSpPr/>
          <p:nvPr/>
        </p:nvSpPr>
        <p:spPr>
          <a:xfrm>
            <a:off x="457200" y="164520"/>
            <a:ext cx="8228880" cy="59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2400" spc="-1" strike="noStrike">
                <a:solidFill>
                  <a:srgbClr val="1f3864"/>
                </a:solidFill>
                <a:latin typeface="Calibri"/>
                <a:ea typeface="Calibri"/>
              </a:rPr>
              <a:t>Gelecek Çalışmalar</a:t>
            </a:r>
            <a:endParaRPr b="0" lang="tr-TR" sz="2400" spc="-1" strike="noStrike">
              <a:latin typeface="Arial"/>
            </a:endParaRPr>
          </a:p>
        </p:txBody>
      </p:sp>
      <p:sp>
        <p:nvSpPr>
          <p:cNvPr id="280" name="CustomShape 3"/>
          <p:cNvSpPr/>
          <p:nvPr/>
        </p:nvSpPr>
        <p:spPr>
          <a:xfrm>
            <a:off x="457200" y="749880"/>
            <a:ext cx="8228880" cy="29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200" spc="-1" strike="noStrike">
                <a:solidFill>
                  <a:srgbClr val="6b7280"/>
                </a:solidFill>
                <a:latin typeface="Calibri"/>
                <a:ea typeface="Calibri"/>
              </a:rPr>
              <a:t>Beş öncelikli araştırma yönü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281" name="Line 4"/>
          <p:cNvSpPr/>
          <p:nvPr/>
        </p:nvSpPr>
        <p:spPr>
          <a:xfrm>
            <a:off x="457200" y="1023840"/>
            <a:ext cx="8229600" cy="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CustomShape 5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CustomShape 6"/>
          <p:cNvSpPr/>
          <p:nvPr/>
        </p:nvSpPr>
        <p:spPr>
          <a:xfrm>
            <a:off x="365760" y="4937760"/>
            <a:ext cx="7314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900" spc="-1" strike="noStrike">
                <a:solidFill>
                  <a:srgbClr val="cadcfc"/>
                </a:solidFill>
                <a:latin typeface="Calibri"/>
                <a:ea typeface="Calibri"/>
              </a:rPr>
              <a:t>Kod Üretimi için LLM'ler — Code Llama Ekseninde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284" name="CustomShape 7"/>
          <p:cNvSpPr/>
          <p:nvPr/>
        </p:nvSpPr>
        <p:spPr>
          <a:xfrm>
            <a:off x="8503920" y="4937760"/>
            <a:ext cx="456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  <a:ea typeface="Calibri"/>
              </a:rPr>
              <a:t>13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285" name="CustomShape 8"/>
          <p:cNvSpPr/>
          <p:nvPr/>
        </p:nvSpPr>
        <p:spPr>
          <a:xfrm>
            <a:off x="365760" y="1234440"/>
            <a:ext cx="456480" cy="41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🤖</a:t>
            </a:r>
            <a:endParaRPr b="0" lang="tr-TR" sz="1600" spc="-1" strike="noStrike">
              <a:latin typeface="Arial"/>
            </a:endParaRPr>
          </a:p>
        </p:txBody>
      </p:sp>
      <p:sp>
        <p:nvSpPr>
          <p:cNvPr id="286" name="CustomShape 9"/>
          <p:cNvSpPr/>
          <p:nvPr/>
        </p:nvSpPr>
        <p:spPr>
          <a:xfrm>
            <a:off x="914400" y="1197720"/>
            <a:ext cx="228528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150" spc="-1" strike="noStrike">
                <a:solidFill>
                  <a:srgbClr val="1f3864"/>
                </a:solidFill>
                <a:latin typeface="Calibri"/>
                <a:ea typeface="Calibri"/>
              </a:rPr>
              <a:t>Ajan tabanlı sistemler</a:t>
            </a:r>
            <a:endParaRPr b="0" lang="tr-TR" sz="1150" spc="-1" strike="noStrike">
              <a:latin typeface="Arial"/>
            </a:endParaRPr>
          </a:p>
        </p:txBody>
      </p:sp>
      <p:sp>
        <p:nvSpPr>
          <p:cNvPr id="287" name="CustomShape 10"/>
          <p:cNvSpPr/>
          <p:nvPr/>
        </p:nvSpPr>
        <p:spPr>
          <a:xfrm>
            <a:off x="914400" y="1472040"/>
            <a:ext cx="786312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950" spc="-1" strike="noStrike">
                <a:solidFill>
                  <a:srgbClr val="1e293b"/>
                </a:solidFill>
                <a:latin typeface="Calibri"/>
                <a:ea typeface="Calibri"/>
              </a:rPr>
              <a:t>Tek adımlı fonksiyon üretiminden çok turlu, hata ayıklama ve refactoring döngülerini kapsayan ajan mimarilerine geçiş. SWE-bench'teki %80,9 başarı umut verici ama gerçek yazılım projelerinde hâlâ sınırlı.</a:t>
            </a:r>
            <a:endParaRPr b="0" lang="tr-TR" sz="950" spc="-1" strike="noStrike">
              <a:latin typeface="Arial"/>
            </a:endParaRPr>
          </a:p>
        </p:txBody>
      </p:sp>
      <p:sp>
        <p:nvSpPr>
          <p:cNvPr id="288" name="Line 11"/>
          <p:cNvSpPr/>
          <p:nvPr/>
        </p:nvSpPr>
        <p:spPr>
          <a:xfrm>
            <a:off x="365760" y="1856160"/>
            <a:ext cx="8412480" cy="0"/>
          </a:xfrm>
          <a:prstGeom prst="line">
            <a:avLst/>
          </a:prstGeom>
          <a:ln w="648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CustomShape 12"/>
          <p:cNvSpPr/>
          <p:nvPr/>
        </p:nvSpPr>
        <p:spPr>
          <a:xfrm>
            <a:off x="365760" y="1984320"/>
            <a:ext cx="456480" cy="41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📁</a:t>
            </a:r>
            <a:endParaRPr b="0" lang="tr-TR" sz="1600" spc="-1" strike="noStrike">
              <a:latin typeface="Arial"/>
            </a:endParaRPr>
          </a:p>
        </p:txBody>
      </p:sp>
      <p:sp>
        <p:nvSpPr>
          <p:cNvPr id="290" name="CustomShape 13"/>
          <p:cNvSpPr/>
          <p:nvPr/>
        </p:nvSpPr>
        <p:spPr>
          <a:xfrm>
            <a:off x="914400" y="1947600"/>
            <a:ext cx="228528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150" spc="-1" strike="noStrike">
                <a:solidFill>
                  <a:srgbClr val="2e5090"/>
                </a:solidFill>
                <a:latin typeface="Calibri"/>
                <a:ea typeface="Calibri"/>
              </a:rPr>
              <a:t>Depo düzeyi anlama</a:t>
            </a:r>
            <a:endParaRPr b="0" lang="tr-TR" sz="1150" spc="-1" strike="noStrike">
              <a:latin typeface="Arial"/>
            </a:endParaRPr>
          </a:p>
        </p:txBody>
      </p:sp>
      <p:sp>
        <p:nvSpPr>
          <p:cNvPr id="291" name="CustomShape 14"/>
          <p:cNvSpPr/>
          <p:nvPr/>
        </p:nvSpPr>
        <p:spPr>
          <a:xfrm>
            <a:off x="914400" y="2221920"/>
            <a:ext cx="786312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950" spc="-1" strike="noStrike">
                <a:solidFill>
                  <a:srgbClr val="1e293b"/>
                </a:solidFill>
                <a:latin typeface="Calibri"/>
                <a:ea typeface="Calibri"/>
              </a:rPr>
              <a:t>Dosyalar arası bağımlılıkları, mimari kararları ve API tutarlılığını işleyebilen modeller gerekiyor. Mevcut benchmark'ların neredeyse tamamı izole fonksiyon düzeyi; depo ölçeği için yeni metrikler şart.</a:t>
            </a:r>
            <a:endParaRPr b="0" lang="tr-TR" sz="950" spc="-1" strike="noStrike">
              <a:latin typeface="Arial"/>
            </a:endParaRPr>
          </a:p>
        </p:txBody>
      </p:sp>
      <p:sp>
        <p:nvSpPr>
          <p:cNvPr id="292" name="Line 15"/>
          <p:cNvSpPr/>
          <p:nvPr/>
        </p:nvSpPr>
        <p:spPr>
          <a:xfrm>
            <a:off x="365760" y="2606040"/>
            <a:ext cx="8412480" cy="0"/>
          </a:xfrm>
          <a:prstGeom prst="line">
            <a:avLst/>
          </a:prstGeom>
          <a:ln w="648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CustomShape 16"/>
          <p:cNvSpPr/>
          <p:nvPr/>
        </p:nvSpPr>
        <p:spPr>
          <a:xfrm>
            <a:off x="365760" y="2734200"/>
            <a:ext cx="456480" cy="41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🛡️</a:t>
            </a:r>
            <a:endParaRPr b="0" lang="tr-TR" sz="1600" spc="-1" strike="noStrike">
              <a:latin typeface="Arial"/>
            </a:endParaRPr>
          </a:p>
        </p:txBody>
      </p:sp>
      <p:sp>
        <p:nvSpPr>
          <p:cNvPr id="294" name="CustomShape 17"/>
          <p:cNvSpPr/>
          <p:nvPr/>
        </p:nvSpPr>
        <p:spPr>
          <a:xfrm>
            <a:off x="914400" y="2697480"/>
            <a:ext cx="228528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150" spc="-1" strike="noStrike">
                <a:solidFill>
                  <a:srgbClr val="dc2626"/>
                </a:solidFill>
                <a:latin typeface="Calibri"/>
                <a:ea typeface="Calibri"/>
              </a:rPr>
              <a:t>Güvenlik odaklı değerlendirme</a:t>
            </a:r>
            <a:endParaRPr b="0" lang="tr-TR" sz="1150" spc="-1" strike="noStrike">
              <a:latin typeface="Arial"/>
            </a:endParaRPr>
          </a:p>
        </p:txBody>
      </p:sp>
      <p:sp>
        <p:nvSpPr>
          <p:cNvPr id="295" name="CustomShape 18"/>
          <p:cNvSpPr/>
          <p:nvPr/>
        </p:nvSpPr>
        <p:spPr>
          <a:xfrm>
            <a:off x="914400" y="2971800"/>
            <a:ext cx="786312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950" spc="-1" strike="noStrike">
                <a:solidFill>
                  <a:srgbClr val="1e293b"/>
                </a:solidFill>
                <a:latin typeface="Calibri"/>
                <a:ea typeface="Calibri"/>
              </a:rPr>
              <a:t>Zhou vd. (2025) zafiyet onarımında yalnızca %20 başarı bildiriyor. Hem kod üretimi hem de üretilen kodun denetimi aşamalarını kapsayan bütünleşik güvenlik metodolojisi henüz yok.</a:t>
            </a:r>
            <a:endParaRPr b="0" lang="tr-TR" sz="950" spc="-1" strike="noStrike">
              <a:latin typeface="Arial"/>
            </a:endParaRPr>
          </a:p>
        </p:txBody>
      </p:sp>
      <p:sp>
        <p:nvSpPr>
          <p:cNvPr id="296" name="Line 19"/>
          <p:cNvSpPr/>
          <p:nvPr/>
        </p:nvSpPr>
        <p:spPr>
          <a:xfrm>
            <a:off x="365760" y="3355560"/>
            <a:ext cx="8412480" cy="0"/>
          </a:xfrm>
          <a:prstGeom prst="line">
            <a:avLst/>
          </a:prstGeom>
          <a:ln w="648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CustomShape 20"/>
          <p:cNvSpPr/>
          <p:nvPr/>
        </p:nvSpPr>
        <p:spPr>
          <a:xfrm>
            <a:off x="365760" y="3483720"/>
            <a:ext cx="456480" cy="41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🌍</a:t>
            </a:r>
            <a:endParaRPr b="0" lang="tr-TR" sz="1600" spc="-1" strike="noStrike">
              <a:latin typeface="Arial"/>
            </a:endParaRPr>
          </a:p>
        </p:txBody>
      </p:sp>
      <p:sp>
        <p:nvSpPr>
          <p:cNvPr id="298" name="CustomShape 21"/>
          <p:cNvSpPr/>
          <p:nvPr/>
        </p:nvSpPr>
        <p:spPr>
          <a:xfrm>
            <a:off x="914400" y="3447360"/>
            <a:ext cx="228528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150" spc="-1" strike="noStrike">
                <a:solidFill>
                  <a:srgbClr val="0d9488"/>
                </a:solidFill>
                <a:latin typeface="Calibri"/>
                <a:ea typeface="Calibri"/>
              </a:rPr>
              <a:t>Düşük kaynaklı dil desteği</a:t>
            </a:r>
            <a:endParaRPr b="0" lang="tr-TR" sz="1150" spc="-1" strike="noStrike">
              <a:latin typeface="Arial"/>
            </a:endParaRPr>
          </a:p>
        </p:txBody>
      </p:sp>
      <p:sp>
        <p:nvSpPr>
          <p:cNvPr id="299" name="CustomShape 22"/>
          <p:cNvSpPr/>
          <p:nvPr/>
        </p:nvSpPr>
        <p:spPr>
          <a:xfrm>
            <a:off x="914400" y="3721680"/>
            <a:ext cx="786312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950" spc="-1" strike="noStrike">
                <a:solidFill>
                  <a:srgbClr val="1e293b"/>
                </a:solidFill>
                <a:latin typeface="Calibri"/>
                <a:ea typeface="Calibri"/>
              </a:rPr>
              <a:t>Eğitim verisinin %90'ı İngilizce. Türkçe dahil pek çok dil için hem doğal dil komut anlama hem de kod üretimi alanında sistematik araştırmalar oldukça kısıtlı.</a:t>
            </a:r>
            <a:endParaRPr b="0" lang="tr-TR" sz="950" spc="-1" strike="noStrike">
              <a:latin typeface="Arial"/>
            </a:endParaRPr>
          </a:p>
        </p:txBody>
      </p:sp>
      <p:sp>
        <p:nvSpPr>
          <p:cNvPr id="300" name="Line 23"/>
          <p:cNvSpPr/>
          <p:nvPr/>
        </p:nvSpPr>
        <p:spPr>
          <a:xfrm>
            <a:off x="365760" y="4105440"/>
            <a:ext cx="8412480" cy="0"/>
          </a:xfrm>
          <a:prstGeom prst="line">
            <a:avLst/>
          </a:prstGeom>
          <a:ln w="648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CustomShape 24"/>
          <p:cNvSpPr/>
          <p:nvPr/>
        </p:nvSpPr>
        <p:spPr>
          <a:xfrm>
            <a:off x="365760" y="4233600"/>
            <a:ext cx="456480" cy="41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♻️</a:t>
            </a:r>
            <a:endParaRPr b="0" lang="tr-TR" sz="1600" spc="-1" strike="noStrike">
              <a:latin typeface="Arial"/>
            </a:endParaRPr>
          </a:p>
        </p:txBody>
      </p:sp>
      <p:sp>
        <p:nvSpPr>
          <p:cNvPr id="302" name="CustomShape 25"/>
          <p:cNvSpPr/>
          <p:nvPr/>
        </p:nvSpPr>
        <p:spPr>
          <a:xfrm>
            <a:off x="914400" y="4197240"/>
            <a:ext cx="228528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150" spc="-1" strike="noStrike">
                <a:solidFill>
                  <a:srgbClr val="059669"/>
                </a:solidFill>
                <a:latin typeface="Calibri"/>
                <a:ea typeface="Calibri"/>
              </a:rPr>
              <a:t>Verimli ve yeşil eğitim</a:t>
            </a:r>
            <a:endParaRPr b="0" lang="tr-TR" sz="1150" spc="-1" strike="noStrike">
              <a:latin typeface="Arial"/>
            </a:endParaRPr>
          </a:p>
        </p:txBody>
      </p:sp>
      <p:sp>
        <p:nvSpPr>
          <p:cNvPr id="303" name="CustomShape 26"/>
          <p:cNvSpPr/>
          <p:nvPr/>
        </p:nvSpPr>
        <p:spPr>
          <a:xfrm>
            <a:off x="914400" y="4471560"/>
            <a:ext cx="786312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950" spc="-1" strike="noStrike">
                <a:solidFill>
                  <a:srgbClr val="1e293b"/>
                </a:solidFill>
                <a:latin typeface="Calibri"/>
                <a:ea typeface="Calibri"/>
              </a:rPr>
              <a:t>Code Llama 1,4 milyon GPU saati ve 228 ton CO₂ harcadı. Shi vd. (2025) bu durumun araştırmada güç asimetrisi yarattığını vurguluyor. PEFT engeli kısmen kaldırıyor; temel model eğitiminde daha verimli yaklaşımlar gerekiyor.</a:t>
            </a:r>
            <a:endParaRPr b="0" lang="tr-TR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CustomShape 1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CustomShape 2"/>
          <p:cNvSpPr/>
          <p:nvPr/>
        </p:nvSpPr>
        <p:spPr>
          <a:xfrm>
            <a:off x="457200" y="164520"/>
            <a:ext cx="8228880" cy="59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2400" spc="-1" strike="noStrike">
                <a:solidFill>
                  <a:srgbClr val="1f3864"/>
                </a:solidFill>
                <a:latin typeface="Calibri"/>
                <a:ea typeface="Calibri"/>
              </a:rPr>
              <a:t>Açık Araştırma Soruları</a:t>
            </a:r>
            <a:endParaRPr b="0" lang="tr-TR" sz="2400" spc="-1" strike="noStrike">
              <a:latin typeface="Arial"/>
            </a:endParaRPr>
          </a:p>
        </p:txBody>
      </p:sp>
      <p:sp>
        <p:nvSpPr>
          <p:cNvPr id="306" name="CustomShape 3"/>
          <p:cNvSpPr/>
          <p:nvPr/>
        </p:nvSpPr>
        <p:spPr>
          <a:xfrm>
            <a:off x="457200" y="749880"/>
            <a:ext cx="8228880" cy="29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200" spc="-1" strike="noStrike">
                <a:solidFill>
                  <a:srgbClr val="6b7280"/>
                </a:solidFill>
                <a:latin typeface="Calibri"/>
                <a:ea typeface="Calibri"/>
              </a:rPr>
              <a:t>Alan henüz yanıtlayamadığı sorularla ilerliyor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307" name="Line 4"/>
          <p:cNvSpPr/>
          <p:nvPr/>
        </p:nvSpPr>
        <p:spPr>
          <a:xfrm>
            <a:off x="457200" y="1023840"/>
            <a:ext cx="8229600" cy="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CustomShape 5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CustomShape 6"/>
          <p:cNvSpPr/>
          <p:nvPr/>
        </p:nvSpPr>
        <p:spPr>
          <a:xfrm>
            <a:off x="365760" y="4937760"/>
            <a:ext cx="7314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900" spc="-1" strike="noStrike">
                <a:solidFill>
                  <a:srgbClr val="cadcfc"/>
                </a:solidFill>
                <a:latin typeface="Calibri"/>
                <a:ea typeface="Calibri"/>
              </a:rPr>
              <a:t>Kod Üretimi için LLM'ler — Code Llama Ekseninde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310" name="CustomShape 7"/>
          <p:cNvSpPr/>
          <p:nvPr/>
        </p:nvSpPr>
        <p:spPr>
          <a:xfrm>
            <a:off x="8503920" y="4937760"/>
            <a:ext cx="456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  <a:ea typeface="Calibri"/>
              </a:rPr>
              <a:t>14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311" name="CustomShape 8"/>
          <p:cNvSpPr/>
          <p:nvPr/>
        </p:nvSpPr>
        <p:spPr>
          <a:xfrm>
            <a:off x="365760" y="1188720"/>
            <a:ext cx="54000" cy="639360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CustomShape 9"/>
          <p:cNvSpPr/>
          <p:nvPr/>
        </p:nvSpPr>
        <p:spPr>
          <a:xfrm>
            <a:off x="594360" y="1207080"/>
            <a:ext cx="8228880" cy="31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200" spc="-1" strike="noStrike">
                <a:solidFill>
                  <a:srgbClr val="1f3864"/>
                </a:solidFill>
                <a:latin typeface="Calibri"/>
                <a:ea typeface="Calibri"/>
              </a:rPr>
              <a:t>Benchmark başarısı gerçek geliştirici üretkenliğine aktarılıyor mu?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313" name="CustomShape 10"/>
          <p:cNvSpPr/>
          <p:nvPr/>
        </p:nvSpPr>
        <p:spPr>
          <a:xfrm>
            <a:off x="594360" y="1536120"/>
            <a:ext cx="8228880" cy="41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6b7280"/>
                </a:solidFill>
                <a:latin typeface="Calibri"/>
                <a:ea typeface="Calibri"/>
              </a:rPr>
              <a:t>HumanEval %92 ≠ gerçek yazılım projesi. Depo ölçeğinde katkı ile izole fonksiyon yazma arasındaki uçurum somut ölçülmemiş.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314" name="CustomShape 11"/>
          <p:cNvSpPr/>
          <p:nvPr/>
        </p:nvSpPr>
        <p:spPr>
          <a:xfrm>
            <a:off x="365760" y="2084760"/>
            <a:ext cx="54000" cy="639360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CustomShape 12"/>
          <p:cNvSpPr/>
          <p:nvPr/>
        </p:nvSpPr>
        <p:spPr>
          <a:xfrm>
            <a:off x="594360" y="2103120"/>
            <a:ext cx="8228880" cy="31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200" spc="-1" strike="noStrike">
                <a:solidFill>
                  <a:srgbClr val="1f3864"/>
                </a:solidFill>
                <a:latin typeface="Calibri"/>
                <a:ea typeface="Calibri"/>
              </a:rPr>
              <a:t>Veri miktarı mı, veri kalitesi mi daha belirleyici?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316" name="CustomShape 13"/>
          <p:cNvSpPr/>
          <p:nvPr/>
        </p:nvSpPr>
        <p:spPr>
          <a:xfrm>
            <a:off x="594360" y="2432160"/>
            <a:ext cx="8228880" cy="41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6b7280"/>
                </a:solidFill>
                <a:latin typeface="Calibri"/>
                <a:ea typeface="Calibri"/>
              </a:rPr>
              <a:t>DeepSeek-Coder ve Qwen verileri gösteriyor ki kalite önemli. Ama repo-level vs dosya-level etkisi henüz kontrollü deneylerle ayrıştırılmadı.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317" name="CustomShape 14"/>
          <p:cNvSpPr/>
          <p:nvPr/>
        </p:nvSpPr>
        <p:spPr>
          <a:xfrm>
            <a:off x="365760" y="2980800"/>
            <a:ext cx="54000" cy="639360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CustomShape 15"/>
          <p:cNvSpPr/>
          <p:nvPr/>
        </p:nvSpPr>
        <p:spPr>
          <a:xfrm>
            <a:off x="594360" y="2999160"/>
            <a:ext cx="8228880" cy="31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200" spc="-1" strike="noStrike">
                <a:solidFill>
                  <a:srgbClr val="1f3864"/>
                </a:solidFill>
                <a:latin typeface="Calibri"/>
                <a:ea typeface="Calibri"/>
              </a:rPr>
              <a:t>Küçük modeller büyük modelleri tamamen ikame edebilir mi?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319" name="CustomShape 16"/>
          <p:cNvSpPr/>
          <p:nvPr/>
        </p:nvSpPr>
        <p:spPr>
          <a:xfrm>
            <a:off x="594360" y="3328560"/>
            <a:ext cx="8228880" cy="41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6b7280"/>
                </a:solidFill>
                <a:latin typeface="Calibri"/>
                <a:ea typeface="Calibri"/>
              </a:rPr>
              <a:t>Qwen2.5-Coder 7B pek çok 70B modeli geçiyor ama SWE-bench'te fark hâlâ büyük. İkame sınırı nerede?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320" name="CustomShape 17"/>
          <p:cNvSpPr/>
          <p:nvPr/>
        </p:nvSpPr>
        <p:spPr>
          <a:xfrm>
            <a:off x="365760" y="3877200"/>
            <a:ext cx="54000" cy="639360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CustomShape 18"/>
          <p:cNvSpPr/>
          <p:nvPr/>
        </p:nvSpPr>
        <p:spPr>
          <a:xfrm>
            <a:off x="594360" y="3895200"/>
            <a:ext cx="8228880" cy="31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200" spc="-1" strike="noStrike">
                <a:solidFill>
                  <a:srgbClr val="1f3864"/>
                </a:solidFill>
                <a:latin typeface="Calibri"/>
                <a:ea typeface="Calibri"/>
              </a:rPr>
              <a:t>LLM'lerin ürettiği kod gerçekten 'anlama' üzerine mi kuruludur?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322" name="CustomShape 19"/>
          <p:cNvSpPr/>
          <p:nvPr/>
        </p:nvSpPr>
        <p:spPr>
          <a:xfrm>
            <a:off x="594360" y="4224600"/>
            <a:ext cx="8228880" cy="41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6b7280"/>
                </a:solidFill>
                <a:latin typeface="Calibri"/>
                <a:ea typeface="Calibri"/>
              </a:rPr>
              <a:t>MBPP'de değişken başlatma hataları gibi basit sorunlarda başarısızlık, modelin istatistiksel örüntü mi yoksa anlamsal muhakeme mi yaptığını sorgulatıyor.</a:t>
            </a:r>
            <a:endParaRPr b="0" lang="tr-TR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CustomShape 1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CustomShape 2"/>
          <p:cNvSpPr/>
          <p:nvPr/>
        </p:nvSpPr>
        <p:spPr>
          <a:xfrm>
            <a:off x="457200" y="164520"/>
            <a:ext cx="8228880" cy="59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2400" spc="-1" strike="noStrike">
                <a:solidFill>
                  <a:srgbClr val="1f3864"/>
                </a:solidFill>
                <a:latin typeface="Calibri"/>
                <a:ea typeface="Calibri"/>
              </a:rPr>
              <a:t>Sonuç</a:t>
            </a:r>
            <a:endParaRPr b="0" lang="tr-TR" sz="2400" spc="-1" strike="noStrike">
              <a:latin typeface="Arial"/>
            </a:endParaRPr>
          </a:p>
        </p:txBody>
      </p:sp>
      <p:sp>
        <p:nvSpPr>
          <p:cNvPr id="325" name="CustomShape 3"/>
          <p:cNvSpPr/>
          <p:nvPr/>
        </p:nvSpPr>
        <p:spPr>
          <a:xfrm>
            <a:off x="457200" y="749880"/>
            <a:ext cx="8228880" cy="29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200" spc="-1" strike="noStrike">
                <a:solidFill>
                  <a:srgbClr val="6b7280"/>
                </a:solidFill>
                <a:latin typeface="Calibri"/>
                <a:ea typeface="Calibri"/>
              </a:rPr>
              <a:t>Code Llama'nın mirası ve alanın bugünkü durumu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326" name="Line 4"/>
          <p:cNvSpPr/>
          <p:nvPr/>
        </p:nvSpPr>
        <p:spPr>
          <a:xfrm>
            <a:off x="457200" y="1023840"/>
            <a:ext cx="8229600" cy="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CustomShape 5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CustomShape 6"/>
          <p:cNvSpPr/>
          <p:nvPr/>
        </p:nvSpPr>
        <p:spPr>
          <a:xfrm>
            <a:off x="365760" y="4937760"/>
            <a:ext cx="7314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900" spc="-1" strike="noStrike">
                <a:solidFill>
                  <a:srgbClr val="cadcfc"/>
                </a:solidFill>
                <a:latin typeface="Calibri"/>
                <a:ea typeface="Calibri"/>
              </a:rPr>
              <a:t>Kod Üretimi için LLM'ler — Code Llama Ekseninde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329" name="CustomShape 7"/>
          <p:cNvSpPr/>
          <p:nvPr/>
        </p:nvSpPr>
        <p:spPr>
          <a:xfrm>
            <a:off x="8503920" y="4937760"/>
            <a:ext cx="456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  <a:ea typeface="Calibri"/>
              </a:rPr>
              <a:t>15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330" name="CustomShape 8"/>
          <p:cNvSpPr/>
          <p:nvPr/>
        </p:nvSpPr>
        <p:spPr>
          <a:xfrm>
            <a:off x="457200" y="1143000"/>
            <a:ext cx="822888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400" spc="-1" strike="noStrike">
                <a:solidFill>
                  <a:srgbClr val="1f3864"/>
                </a:solidFill>
                <a:latin typeface="Calibri"/>
                <a:ea typeface="Calibri"/>
              </a:rPr>
              <a:t>Üç Ana Çıkarım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331" name="CustomShape 9"/>
          <p:cNvSpPr/>
          <p:nvPr/>
        </p:nvSpPr>
        <p:spPr>
          <a:xfrm>
            <a:off x="365760" y="1645920"/>
            <a:ext cx="365040" cy="365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332" name="CustomShape 10"/>
          <p:cNvSpPr/>
          <p:nvPr/>
        </p:nvSpPr>
        <p:spPr>
          <a:xfrm>
            <a:off x="868680" y="1664280"/>
            <a:ext cx="7954560" cy="639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1e293b"/>
                </a:solidFill>
                <a:latin typeface="Calibri"/>
                <a:ea typeface="Calibri"/>
              </a:rPr>
              <a:t>Code Llama'nın en kalıcı katkısı teknik değil, açtığı kapılardan geliyor. FIM ve LCFT'yi açık modele entegre eden ilk çalışma olması, sonraki tüm modeller için referans çerçeve oluşturdu.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333" name="CustomShape 11"/>
          <p:cNvSpPr/>
          <p:nvPr/>
        </p:nvSpPr>
        <p:spPr>
          <a:xfrm>
            <a:off x="365760" y="2423160"/>
            <a:ext cx="365040" cy="365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334" name="CustomShape 12"/>
          <p:cNvSpPr/>
          <p:nvPr/>
        </p:nvSpPr>
        <p:spPr>
          <a:xfrm>
            <a:off x="868680" y="2441520"/>
            <a:ext cx="7954560" cy="639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1e293b"/>
                </a:solidFill>
                <a:latin typeface="Calibri"/>
                <a:ea typeface="Calibri"/>
              </a:rPr>
              <a:t>Veri kalitesi + strateji, parametre sayısını giderek daha fazla ikame ediyor. 6,7B DeepSeek-Coder ≈ 34B Code Llama. Bu durum alan dışından araştırmacıların rekabet edebileceği anlamına geliyor.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335" name="CustomShape 13"/>
          <p:cNvSpPr/>
          <p:nvPr/>
        </p:nvSpPr>
        <p:spPr>
          <a:xfrm>
            <a:off x="365760" y="3200400"/>
            <a:ext cx="365040" cy="365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336" name="CustomShape 14"/>
          <p:cNvSpPr/>
          <p:nvPr/>
        </p:nvSpPr>
        <p:spPr>
          <a:xfrm>
            <a:off x="868680" y="3218760"/>
            <a:ext cx="7954560" cy="639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1e293b"/>
                </a:solidFill>
                <a:latin typeface="Calibri"/>
                <a:ea typeface="Calibri"/>
              </a:rPr>
              <a:t>HumanEval'de fark kapandı; SWE-bench'te depo düzeyi boşluk hâlâ derin. Gerçek yazılım projelerinde çalışmak, alanın bir sonraki büyük engeli olmaya devam ediyor.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337" name="Line 15"/>
          <p:cNvSpPr/>
          <p:nvPr/>
        </p:nvSpPr>
        <p:spPr>
          <a:xfrm>
            <a:off x="274320" y="4114800"/>
            <a:ext cx="8595360" cy="0"/>
          </a:xfrm>
          <a:prstGeom prst="line">
            <a:avLst/>
          </a:prstGeom>
          <a:ln w="1008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CustomShape 16"/>
          <p:cNvSpPr/>
          <p:nvPr/>
        </p:nvSpPr>
        <p:spPr>
          <a:xfrm>
            <a:off x="457200" y="4251960"/>
            <a:ext cx="8228880" cy="45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100" spc="-1" strike="noStrike">
                <a:solidFill>
                  <a:srgbClr val="1f3864"/>
                </a:solidFill>
                <a:latin typeface="Calibri"/>
                <a:ea typeface="Calibri"/>
              </a:rPr>
              <a:t>Alan gelişti ama henüz tamamlanmadı. Benchmark güvenilirliği, depo düzeyi anlama, güvenli kod üretimi ve düşük kaynaklı dil desteği — dört açık problem hâlâ araştırmacı bekliyor.</a:t>
            </a:r>
            <a:endParaRPr b="0" lang="tr-T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CustomShape 1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CustomShape 2"/>
          <p:cNvSpPr/>
          <p:nvPr/>
        </p:nvSpPr>
        <p:spPr>
          <a:xfrm>
            <a:off x="457200" y="164520"/>
            <a:ext cx="8228880" cy="59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2400" spc="-1" strike="noStrike">
                <a:solidFill>
                  <a:srgbClr val="1f3864"/>
                </a:solidFill>
                <a:latin typeface="Calibri"/>
                <a:ea typeface="Calibri"/>
              </a:rPr>
              <a:t>Sınırlılıklar ve Etik</a:t>
            </a:r>
            <a:endParaRPr b="0" lang="tr-TR" sz="2400" spc="-1" strike="noStrike">
              <a:latin typeface="Arial"/>
            </a:endParaRPr>
          </a:p>
        </p:txBody>
      </p:sp>
      <p:sp>
        <p:nvSpPr>
          <p:cNvPr id="341" name="CustomShape 3"/>
          <p:cNvSpPr/>
          <p:nvPr/>
        </p:nvSpPr>
        <p:spPr>
          <a:xfrm>
            <a:off x="457200" y="749880"/>
            <a:ext cx="8228880" cy="29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200" spc="-1" strike="noStrike">
                <a:solidFill>
                  <a:srgbClr val="6b7280"/>
                </a:solidFill>
                <a:latin typeface="Calibri"/>
                <a:ea typeface="Calibri"/>
              </a:rPr>
              <a:t>Alanın henüz çözemediği sorunlar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342" name="Line 4"/>
          <p:cNvSpPr/>
          <p:nvPr/>
        </p:nvSpPr>
        <p:spPr>
          <a:xfrm>
            <a:off x="457200" y="1023840"/>
            <a:ext cx="8229600" cy="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CustomShape 5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4" name="CustomShape 6"/>
          <p:cNvSpPr/>
          <p:nvPr/>
        </p:nvSpPr>
        <p:spPr>
          <a:xfrm>
            <a:off x="365760" y="4937760"/>
            <a:ext cx="7314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900" spc="-1" strike="noStrike">
                <a:solidFill>
                  <a:srgbClr val="cadcfc"/>
                </a:solidFill>
                <a:latin typeface="Calibri"/>
                <a:ea typeface="Calibri"/>
              </a:rPr>
              <a:t>Kod Üretimi için LLM'ler — Code Llama Ekseninde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345" name="CustomShape 7"/>
          <p:cNvSpPr/>
          <p:nvPr/>
        </p:nvSpPr>
        <p:spPr>
          <a:xfrm>
            <a:off x="8503920" y="4937760"/>
            <a:ext cx="456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  <a:ea typeface="Calibri"/>
              </a:rPr>
              <a:t>16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346" name="CustomShape 8"/>
          <p:cNvSpPr/>
          <p:nvPr/>
        </p:nvSpPr>
        <p:spPr>
          <a:xfrm>
            <a:off x="365760" y="1188720"/>
            <a:ext cx="402264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150" spc="-1" strike="noStrike">
                <a:solidFill>
                  <a:srgbClr val="1f3864"/>
                </a:solidFill>
                <a:latin typeface="Calibri"/>
                <a:ea typeface="Calibri"/>
              </a:rPr>
              <a:t>Benchmark güvenilirliği</a:t>
            </a:r>
            <a:endParaRPr b="0" lang="tr-TR" sz="1150" spc="-1" strike="noStrike">
              <a:latin typeface="Arial"/>
            </a:endParaRPr>
          </a:p>
        </p:txBody>
      </p:sp>
      <p:sp>
        <p:nvSpPr>
          <p:cNvPr id="347" name="CustomShape 9"/>
          <p:cNvSpPr/>
          <p:nvPr/>
        </p:nvSpPr>
        <p:spPr>
          <a:xfrm>
            <a:off x="365760" y="1463040"/>
            <a:ext cx="4022640" cy="68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HumanEval 164 problem — istatistiksel güç kısıtlı. LiveCodeBench kontaminasyon sorununu belgeledi. Güvenlik ve çok dosyalı görevler hâlâ ölçülemiyor.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348" name="Line 10"/>
          <p:cNvSpPr/>
          <p:nvPr/>
        </p:nvSpPr>
        <p:spPr>
          <a:xfrm>
            <a:off x="365760" y="2194560"/>
            <a:ext cx="4023360" cy="0"/>
          </a:xfrm>
          <a:prstGeom prst="line">
            <a:avLst/>
          </a:prstGeom>
          <a:ln w="648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CustomShape 11"/>
          <p:cNvSpPr/>
          <p:nvPr/>
        </p:nvSpPr>
        <p:spPr>
          <a:xfrm>
            <a:off x="365760" y="2359080"/>
            <a:ext cx="402264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150" spc="-1" strike="noStrike">
                <a:solidFill>
                  <a:srgbClr val="1f3864"/>
                </a:solidFill>
                <a:latin typeface="Calibri"/>
                <a:ea typeface="Calibri"/>
              </a:rPr>
              <a:t>Hesaplama maliyeti &amp; çevre</a:t>
            </a:r>
            <a:endParaRPr b="0" lang="tr-TR" sz="1150" spc="-1" strike="noStrike">
              <a:latin typeface="Arial"/>
            </a:endParaRPr>
          </a:p>
        </p:txBody>
      </p:sp>
      <p:sp>
        <p:nvSpPr>
          <p:cNvPr id="350" name="CustomShape 12"/>
          <p:cNvSpPr/>
          <p:nvPr/>
        </p:nvSpPr>
        <p:spPr>
          <a:xfrm>
            <a:off x="365760" y="2633400"/>
            <a:ext cx="4022640" cy="68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Code Llama eğitimi: 1,4M GPU saati, 228 ton CO₂. LoRA bu engeli kısmen aşıyor ama temel model eğitiminde eşitsizlik devam ediyor (Shi vd., 2025).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351" name="Line 13"/>
          <p:cNvSpPr/>
          <p:nvPr/>
        </p:nvSpPr>
        <p:spPr>
          <a:xfrm>
            <a:off x="365760" y="3364920"/>
            <a:ext cx="4023360" cy="0"/>
          </a:xfrm>
          <a:prstGeom prst="line">
            <a:avLst/>
          </a:prstGeom>
          <a:ln w="648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CustomShape 14"/>
          <p:cNvSpPr/>
          <p:nvPr/>
        </p:nvSpPr>
        <p:spPr>
          <a:xfrm>
            <a:off x="365760" y="3529440"/>
            <a:ext cx="402264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150" spc="-1" strike="noStrike">
                <a:solidFill>
                  <a:srgbClr val="1f3864"/>
                </a:solidFill>
                <a:latin typeface="Calibri"/>
                <a:ea typeface="Calibri"/>
              </a:rPr>
              <a:t>Veri gizliliği &amp; lisans</a:t>
            </a:r>
            <a:endParaRPr b="0" lang="tr-TR" sz="1150" spc="-1" strike="noStrike">
              <a:latin typeface="Arial"/>
            </a:endParaRPr>
          </a:p>
        </p:txBody>
      </p:sp>
      <p:sp>
        <p:nvSpPr>
          <p:cNvPr id="353" name="CustomShape 15"/>
          <p:cNvSpPr/>
          <p:nvPr/>
        </p:nvSpPr>
        <p:spPr>
          <a:xfrm>
            <a:off x="365760" y="3803760"/>
            <a:ext cx="4022640" cy="68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GitHub verilerinin GPL uyumu belirsiz. StarCoder PII maskeleme, OpenCoder tam şeffaflık örnek gösteriyor. Code Llama bu konuda orta yerde.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354" name="Line 16"/>
          <p:cNvSpPr/>
          <p:nvPr/>
        </p:nvSpPr>
        <p:spPr>
          <a:xfrm>
            <a:off x="365760" y="4535280"/>
            <a:ext cx="4023360" cy="0"/>
          </a:xfrm>
          <a:prstGeom prst="line">
            <a:avLst/>
          </a:prstGeom>
          <a:ln w="648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CustomShape 17"/>
          <p:cNvSpPr/>
          <p:nvPr/>
        </p:nvSpPr>
        <p:spPr>
          <a:xfrm>
            <a:off x="4754880" y="1188720"/>
            <a:ext cx="402264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150" spc="-1" strike="noStrike">
                <a:solidFill>
                  <a:srgbClr val="1f3864"/>
                </a:solidFill>
                <a:latin typeface="Calibri"/>
                <a:ea typeface="Calibri"/>
              </a:rPr>
              <a:t>Güvenlik açıkları</a:t>
            </a:r>
            <a:endParaRPr b="0" lang="tr-TR" sz="1150" spc="-1" strike="noStrike">
              <a:latin typeface="Arial"/>
            </a:endParaRPr>
          </a:p>
        </p:txBody>
      </p:sp>
      <p:sp>
        <p:nvSpPr>
          <p:cNvPr id="356" name="CustomShape 18"/>
          <p:cNvSpPr/>
          <p:nvPr/>
        </p:nvSpPr>
        <p:spPr>
          <a:xfrm>
            <a:off x="4754880" y="1463040"/>
            <a:ext cx="4022640" cy="68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Zafiyet tespiti en iyi modelde %67,6; onarım başarısı yalnızca %20 (Zhou vd., 2025). 'İkili niyet prompting' riski gerçek.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357" name="Line 19"/>
          <p:cNvSpPr/>
          <p:nvPr/>
        </p:nvSpPr>
        <p:spPr>
          <a:xfrm>
            <a:off x="4754880" y="2194560"/>
            <a:ext cx="4023360" cy="0"/>
          </a:xfrm>
          <a:prstGeom prst="line">
            <a:avLst/>
          </a:prstGeom>
          <a:ln w="648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CustomShape 20"/>
          <p:cNvSpPr/>
          <p:nvPr/>
        </p:nvSpPr>
        <p:spPr>
          <a:xfrm>
            <a:off x="4754880" y="2359080"/>
            <a:ext cx="402264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150" spc="-1" strike="noStrike">
                <a:solidFill>
                  <a:srgbClr val="1f3864"/>
                </a:solidFill>
                <a:latin typeface="Calibri"/>
                <a:ea typeface="Calibri"/>
              </a:rPr>
              <a:t>Sentetik veri riskleri</a:t>
            </a:r>
            <a:endParaRPr b="0" lang="tr-TR" sz="1150" spc="-1" strike="noStrike">
              <a:latin typeface="Arial"/>
            </a:endParaRPr>
          </a:p>
        </p:txBody>
      </p:sp>
      <p:sp>
        <p:nvSpPr>
          <p:cNvPr id="359" name="CustomShape 21"/>
          <p:cNvSpPr/>
          <p:nvPr/>
        </p:nvSpPr>
        <p:spPr>
          <a:xfrm>
            <a:off x="4754880" y="2633400"/>
            <a:ext cx="4022640" cy="68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14K self-instruct örneği — üretici modelin hataları eğitime aktarılabiliyor. TruthfulQA %47,4 vs Llama 2 Chat %67,2.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360" name="Line 22"/>
          <p:cNvSpPr/>
          <p:nvPr/>
        </p:nvSpPr>
        <p:spPr>
          <a:xfrm>
            <a:off x="4754880" y="3364920"/>
            <a:ext cx="4023360" cy="0"/>
          </a:xfrm>
          <a:prstGeom prst="line">
            <a:avLst/>
          </a:prstGeom>
          <a:ln w="648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1" name="CustomShape 23"/>
          <p:cNvSpPr/>
          <p:nvPr/>
        </p:nvSpPr>
        <p:spPr>
          <a:xfrm>
            <a:off x="4754880" y="3529440"/>
            <a:ext cx="4022640" cy="27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150" spc="-1" strike="noStrike">
                <a:solidFill>
                  <a:srgbClr val="1f3864"/>
                </a:solidFill>
                <a:latin typeface="Calibri"/>
                <a:ea typeface="Calibri"/>
              </a:rPr>
              <a:t>Dil kapsamı eşitsizliği</a:t>
            </a:r>
            <a:endParaRPr b="0" lang="tr-TR" sz="1150" spc="-1" strike="noStrike">
              <a:latin typeface="Arial"/>
            </a:endParaRPr>
          </a:p>
        </p:txBody>
      </p:sp>
      <p:sp>
        <p:nvSpPr>
          <p:cNvPr id="362" name="CustomShape 24"/>
          <p:cNvSpPr/>
          <p:nvPr/>
        </p:nvSpPr>
        <p:spPr>
          <a:xfrm>
            <a:off x="4754880" y="3803760"/>
            <a:ext cx="4022640" cy="68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Eğitim verisinin %90'ı İngilizce. Türkçe dahil pek çok dil sistematik dezavantaj altında; tokenizer tasarımından kaynaklanan derin bir sorun.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363" name="Line 25"/>
          <p:cNvSpPr/>
          <p:nvPr/>
        </p:nvSpPr>
        <p:spPr>
          <a:xfrm>
            <a:off x="4754880" y="4535280"/>
            <a:ext cx="4023360" cy="0"/>
          </a:xfrm>
          <a:prstGeom prst="line">
            <a:avLst/>
          </a:prstGeom>
          <a:ln w="648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CustomShape 1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CustomShape 2"/>
          <p:cNvSpPr/>
          <p:nvPr/>
        </p:nvSpPr>
        <p:spPr>
          <a:xfrm>
            <a:off x="457200" y="164520"/>
            <a:ext cx="8228880" cy="59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2400" spc="-1" strike="noStrike">
                <a:solidFill>
                  <a:srgbClr val="1f3864"/>
                </a:solidFill>
                <a:latin typeface="Calibri"/>
                <a:ea typeface="Calibri"/>
              </a:rPr>
              <a:t>Kaynakça (1/2)</a:t>
            </a:r>
            <a:endParaRPr b="0" lang="tr-TR" sz="2400" spc="-1" strike="noStrike">
              <a:latin typeface="Arial"/>
            </a:endParaRPr>
          </a:p>
        </p:txBody>
      </p:sp>
      <p:sp>
        <p:nvSpPr>
          <p:cNvPr id="366" name="Line 3"/>
          <p:cNvSpPr/>
          <p:nvPr/>
        </p:nvSpPr>
        <p:spPr>
          <a:xfrm>
            <a:off x="457200" y="1023840"/>
            <a:ext cx="8229600" cy="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7" name="CustomShape 4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8" name="CustomShape 5"/>
          <p:cNvSpPr/>
          <p:nvPr/>
        </p:nvSpPr>
        <p:spPr>
          <a:xfrm>
            <a:off x="365760" y="4937760"/>
            <a:ext cx="7314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900" spc="-1" strike="noStrike">
                <a:solidFill>
                  <a:srgbClr val="cadcfc"/>
                </a:solidFill>
                <a:latin typeface="Calibri"/>
                <a:ea typeface="Calibri"/>
              </a:rPr>
              <a:t>Kod Üretimi için LLM'ler — Code Llama Ekseninde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369" name="CustomShape 6"/>
          <p:cNvSpPr/>
          <p:nvPr/>
        </p:nvSpPr>
        <p:spPr>
          <a:xfrm>
            <a:off x="8503920" y="4937760"/>
            <a:ext cx="456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  <a:ea typeface="Calibri"/>
              </a:rPr>
              <a:t>17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370" name="CustomShape 7"/>
          <p:cNvSpPr/>
          <p:nvPr/>
        </p:nvSpPr>
        <p:spPr>
          <a:xfrm>
            <a:off x="457200" y="1143000"/>
            <a:ext cx="8228880" cy="38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Austin, J., Odena, A., Nye, M., ve diğ. (2021). Program synthesis with large language models. arXiv:2108.07732.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371" name="CustomShape 8"/>
          <p:cNvSpPr/>
          <p:nvPr/>
        </p:nvSpPr>
        <p:spPr>
          <a:xfrm>
            <a:off x="457200" y="1563480"/>
            <a:ext cx="8228880" cy="38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Cassano, F., Gouwar, J., Nguyen, D., ve diğ. (2023). MultiPL-E: A scalable and polyglot approach to benchmarking neural code generation. IEEE TSE.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372" name="CustomShape 9"/>
          <p:cNvSpPr/>
          <p:nvPr/>
        </p:nvSpPr>
        <p:spPr>
          <a:xfrm>
            <a:off x="457200" y="1984320"/>
            <a:ext cx="8228880" cy="38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Chen, M., Tworek, J., Jun, H., ve diğ. (2021). Evaluating large language models trained on code. arXiv:2107.03374.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373" name="CustomShape 10"/>
          <p:cNvSpPr/>
          <p:nvPr/>
        </p:nvSpPr>
        <p:spPr>
          <a:xfrm>
            <a:off x="457200" y="2404800"/>
            <a:ext cx="8228880" cy="38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Grattafiori, A., Dubey, A., Jauhri, A., ve diğ. (2024). The Llama 3 herd of models. arXiv:2407.21783.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374" name="CustomShape 11"/>
          <p:cNvSpPr/>
          <p:nvPr/>
        </p:nvSpPr>
        <p:spPr>
          <a:xfrm>
            <a:off x="457200" y="2825640"/>
            <a:ext cx="8228880" cy="38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Guo, D., Zhu, Q., Yang, D., ve diğ. (2024). DeepSeek-Coder: When the large language model meets programming. arXiv:2401.14196.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375" name="CustomShape 12"/>
          <p:cNvSpPr/>
          <p:nvPr/>
        </p:nvSpPr>
        <p:spPr>
          <a:xfrm>
            <a:off x="457200" y="3246120"/>
            <a:ext cx="8228880" cy="38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Huang, S., Cheng, X., Liu, K. H., ve diğ. (2025). OpenCoder: The open cookbook for top-tier code large language models. arXiv:2411.04905.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376" name="CustomShape 13"/>
          <p:cNvSpPr/>
          <p:nvPr/>
        </p:nvSpPr>
        <p:spPr>
          <a:xfrm>
            <a:off x="457200" y="3666600"/>
            <a:ext cx="8228880" cy="38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Hui, B., Yang, J., Cui, Z., ve diğ. (2024). Qwen2.5-Coder technical report. arXiv:2409.12186.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377" name="CustomShape 14"/>
          <p:cNvSpPr/>
          <p:nvPr/>
        </p:nvSpPr>
        <p:spPr>
          <a:xfrm>
            <a:off x="457200" y="4087440"/>
            <a:ext cx="8228880" cy="38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Jain, N., Han, K., Gu, A., ve diğ. (2024). LiveCodeBench: Holistic and contamination free evaluation of LLMs for code. arXiv:2403.07974.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378" name="CustomShape 15"/>
          <p:cNvSpPr/>
          <p:nvPr/>
        </p:nvSpPr>
        <p:spPr>
          <a:xfrm>
            <a:off x="457200" y="4507920"/>
            <a:ext cx="8228880" cy="38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Jiang, J., Wang, F., Shen, J., Kim, S., &amp; Kim, S. (2024). A survey on large language models for code generation. ACM Comput. Surv.</a:t>
            </a:r>
            <a:endParaRPr b="0" lang="tr-T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CustomShape 1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0" name="CustomShape 2"/>
          <p:cNvSpPr/>
          <p:nvPr/>
        </p:nvSpPr>
        <p:spPr>
          <a:xfrm>
            <a:off x="457200" y="164520"/>
            <a:ext cx="8228880" cy="59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2400" spc="-1" strike="noStrike">
                <a:solidFill>
                  <a:srgbClr val="1f3864"/>
                </a:solidFill>
                <a:latin typeface="Calibri"/>
                <a:ea typeface="Calibri"/>
              </a:rPr>
              <a:t>Kaynakça (2/2)</a:t>
            </a:r>
            <a:endParaRPr b="0" lang="tr-TR" sz="2400" spc="-1" strike="noStrike">
              <a:latin typeface="Arial"/>
            </a:endParaRPr>
          </a:p>
        </p:txBody>
      </p:sp>
      <p:sp>
        <p:nvSpPr>
          <p:cNvPr id="381" name="Line 3"/>
          <p:cNvSpPr/>
          <p:nvPr/>
        </p:nvSpPr>
        <p:spPr>
          <a:xfrm>
            <a:off x="457200" y="1023840"/>
            <a:ext cx="8229600" cy="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2" name="CustomShape 4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f3864"/>
          </a:solidFill>
          <a:ln w="126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3" name="CustomShape 5"/>
          <p:cNvSpPr/>
          <p:nvPr/>
        </p:nvSpPr>
        <p:spPr>
          <a:xfrm>
            <a:off x="365760" y="4937760"/>
            <a:ext cx="7314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900" spc="-1" strike="noStrike">
                <a:solidFill>
                  <a:srgbClr val="cadcfc"/>
                </a:solidFill>
                <a:latin typeface="Calibri"/>
                <a:ea typeface="Calibri"/>
              </a:rPr>
              <a:t>Kod Üretimi için LLM'ler — Code Llama Ekseninde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384" name="CustomShape 6"/>
          <p:cNvSpPr/>
          <p:nvPr/>
        </p:nvSpPr>
        <p:spPr>
          <a:xfrm>
            <a:off x="8503920" y="4937760"/>
            <a:ext cx="45648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  <a:ea typeface="Calibri"/>
              </a:rPr>
              <a:t>18</a:t>
            </a:r>
            <a:endParaRPr b="0" lang="tr-TR" sz="900" spc="-1" strike="noStrike">
              <a:latin typeface="Arial"/>
            </a:endParaRPr>
          </a:p>
        </p:txBody>
      </p:sp>
      <p:sp>
        <p:nvSpPr>
          <p:cNvPr id="385" name="CustomShape 7"/>
          <p:cNvSpPr/>
          <p:nvPr/>
        </p:nvSpPr>
        <p:spPr>
          <a:xfrm>
            <a:off x="457200" y="1143000"/>
            <a:ext cx="8228880" cy="419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Jimenez, C. E., Yang, J., Wettig, A., ve diğ. (2024). SWE-bench: Can language models resolve real-world GitHub issues? arXiv:2310.06770.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386" name="CustomShape 8"/>
          <p:cNvSpPr/>
          <p:nvPr/>
        </p:nvSpPr>
        <p:spPr>
          <a:xfrm>
            <a:off x="457200" y="1600200"/>
            <a:ext cx="8228880" cy="419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Li, R., Allal, L. B., Zi, Y., ve diğ. (2023). StarCoder: May the source be with you! arXiv:2305.06161.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387" name="CustomShape 9"/>
          <p:cNvSpPr/>
          <p:nvPr/>
        </p:nvSpPr>
        <p:spPr>
          <a:xfrm>
            <a:off x="457200" y="2057400"/>
            <a:ext cx="8228880" cy="419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Rozière, B., Gehring, J., Gloeckle, F., ve diğ. (2023). Code Llama: Open foundation models for code. arXiv:2308.12950.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388" name="CustomShape 10"/>
          <p:cNvSpPr/>
          <p:nvPr/>
        </p:nvSpPr>
        <p:spPr>
          <a:xfrm>
            <a:off x="457200" y="2514600"/>
            <a:ext cx="8228880" cy="419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Shi, Z., Wang, M., Huang, Z., ve diğ. (2025). Efficient and green large language models for software engineering. ACM TOSEM.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389" name="CustomShape 11"/>
          <p:cNvSpPr/>
          <p:nvPr/>
        </p:nvSpPr>
        <p:spPr>
          <a:xfrm>
            <a:off x="457200" y="2971800"/>
            <a:ext cx="8228880" cy="419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Touvron, H., Martin, L., Stone, K., ve diğ. (2023). Llama 2: Open foundation and fine-tuned chat models. arXiv:2307.09288.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390" name="CustomShape 12"/>
          <p:cNvSpPr/>
          <p:nvPr/>
        </p:nvSpPr>
        <p:spPr>
          <a:xfrm>
            <a:off x="457200" y="3429000"/>
            <a:ext cx="8228880" cy="419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Weyssow, M., Kamanda, A., &amp; Sahraoui, H. (2025). A comprehensive study of parameter-efficient fine-tuning for LLMs used in code generation. ACM TOSEM.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391" name="CustomShape 13"/>
          <p:cNvSpPr/>
          <p:nvPr/>
        </p:nvSpPr>
        <p:spPr>
          <a:xfrm>
            <a:off x="457200" y="3886200"/>
            <a:ext cx="8228880" cy="419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Ziegler, A., Kalliamvakou, E., Li, X. A., ve diğ. (2022). Productivity assessment of neural code completion. MAPS 2022, ACM.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392" name="CustomShape 14"/>
          <p:cNvSpPr/>
          <p:nvPr/>
        </p:nvSpPr>
        <p:spPr>
          <a:xfrm>
            <a:off x="457200" y="4343400"/>
            <a:ext cx="8228880" cy="419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1e293b"/>
                </a:solidFill>
                <a:latin typeface="Calibri"/>
                <a:ea typeface="Calibri"/>
              </a:rPr>
              <a:t>Zhou, X., Zhang, T., Olsson, T., Gorla, A., &amp; Lo, D. (2025). Large language models for software vulnerability detection. ACM TOSEM.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393" name="Line 1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ln w="1008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CustomShape 16"/>
          <p:cNvSpPr/>
          <p:nvPr/>
        </p:nvSpPr>
        <p:spPr>
          <a:xfrm>
            <a:off x="457200" y="4754880"/>
            <a:ext cx="8228880" cy="22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1100" spc="-1" strike="noStrike">
                <a:solidFill>
                  <a:srgbClr val="1f3864"/>
                </a:solidFill>
                <a:latin typeface="Calibri"/>
                <a:ea typeface="Calibri"/>
              </a:rPr>
              <a:t>Sorular için hazırım</a:t>
            </a:r>
            <a:endParaRPr b="0" lang="tr-T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Neat_Office/6.2.8.2$Windows_x86 LibreOffice_project/</Applicat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2026-03-19T12:51:55Z</dcterms:created>
  <dc:creator>PptxGenJS</dc:creator>
  <dc:description/>
  <dc:language>tr-TR</dc:language>
  <cp:lastModifiedBy/>
  <dcterms:modified xsi:type="dcterms:W3CDTF">2026-03-19T16:08:19Z</dcterms:modified>
  <cp:revision>4</cp:revision>
  <dc:subject>PptxGenJS Presentation</dc:subject>
  <dc:title>Kod Üretimi için Büyük Dil Modelleri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PptxGenJS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24</vt:i4>
  </property>
  <property fmtid="{D5CDD505-2E9C-101B-9397-08002B2CF9AE}" pid="9" name="PresentationFormat">
    <vt:lpwstr>On-screen Show (16:9)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24</vt:i4>
  </property>
</Properties>
</file>